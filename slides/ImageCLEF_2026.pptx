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4" r:id="rId8"/>
    <p:sldId id="265"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0" d="100"/>
          <a:sy n="80" d="100"/>
        </p:scale>
        <p:origin x="682"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6711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challenge scope: first edition, multimodal, and designed around both creating and detecting deepfakes. Emphasize that the deck also proposes a practical system plan rather than just restating the webpage.
[Sources]
- https://www.imageclef.org/2026/deepfake-detection-and-generation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2x2 structure clearly. The important insight for classmates is that this is not four isolated tasks - the organizers intentionally connect them.
[Sources]
- https://www.imageclef.org/2026/deepfake-detection-and-generation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core narrative of the presentation: the competition is fundamentally about generalization. That is why no training set is provided and why public datasets become essential.
[Sources]
- https://www.imageclef.org/2026/deepfake-detection-and-generation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useful because classmates often ask about logistics. Mention the non-overlapping schedule and the AI4MediaBench registration flow.
[Sources]
- https://www.imageclef.org/2026/deepfake-detection-and-generation
- https://www.imageclef.org/2026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extra time on this slide because it connects rules to design decisions. The audience should understand why external data curation is a competitive advantage.
[Sources]
- https://www.imageclef.org/2026/deepfake-detection-and-generation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strongly opinionated slide. Make clear that this is your proposed strategy, not an organizer rule. The reasoning is that detection is more feasible to finish and benefits from adversarially generated hard negatives.
[Sources]
- https://www.imageclef.org/2026/deepfake-detection-and-generation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not from the organizer site; it is your engineering plan. It explains how public datasets should be converted into reliable experiments.
[Sources]
- https://www.imageclef.org/2026/deepfake-detection-and-generation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narrative, not the webpage details. The audience should remember that robustness to unseen deepfakes is the central idea.
[Sources]
- https://www.imageclef.org/2026/deepfake-detection-and-generation
- https://www.imageclef.org/2026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5FA4E8"/>
          </a:solidFill>
          <a:ln w="12700">
            <a:solidFill>
              <a:srgbClr val="5FA4E8"/>
            </a:solidFill>
            <a:prstDash val="solid"/>
          </a:ln>
        </p:spPr>
      </p:sp>
      <p:sp>
        <p:nvSpPr>
          <p:cNvPr id="3" name="Shape 1"/>
          <p:cNvSpPr/>
          <p:nvPr/>
        </p:nvSpPr>
        <p:spPr>
          <a:xfrm>
            <a:off x="0" y="6556248"/>
            <a:ext cx="12191695" cy="301752"/>
          </a:xfrm>
          <a:prstGeom prst="rect">
            <a:avLst/>
          </a:prstGeom>
          <a:solidFill>
            <a:srgbClr val="E9EEF5"/>
          </a:solidFill>
          <a:ln w="12700">
            <a:solidFill>
              <a:srgbClr val="E9EEF5"/>
            </a:solidFill>
            <a:prstDash val="solid"/>
          </a:ln>
        </p:spPr>
      </p:sp>
      <p:sp>
        <p:nvSpPr>
          <p:cNvPr id="4" name="Text 2"/>
          <p:cNvSpPr/>
          <p:nvPr/>
        </p:nvSpPr>
        <p:spPr>
          <a:xfrm>
            <a:off x="411480" y="6592824"/>
            <a:ext cx="6400800" cy="164592"/>
          </a:xfrm>
          <a:prstGeom prst="rect">
            <a:avLst/>
          </a:prstGeom>
          <a:noFill/>
          <a:ln/>
        </p:spPr>
        <p:txBody>
          <a:bodyPr wrap="square" lIns="0" tIns="0" rIns="0" bIns="0" rtlCol="0" anchor="ctr"/>
          <a:lstStyle/>
          <a:p>
            <a:pPr marL="0" indent="0">
              <a:buNone/>
            </a:pPr>
            <a:r>
              <a:rPr lang="en-US" sz="950" dirty="0">
                <a:solidFill>
                  <a:srgbClr val="4B5563"/>
                </a:solidFill>
                <a:latin typeface="Aptos" pitchFamily="34" charset="0"/>
                <a:ea typeface="Aptos" pitchFamily="34" charset="-122"/>
                <a:cs typeface="Aptos" pitchFamily="34" charset="-120"/>
              </a:rPr>
              <a:t>ImageCLEF 2026 | Deepfake Detection &amp; Generation</a:t>
            </a:r>
            <a:endParaRPr lang="en-US" sz="9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imageclef.org/2026/deepfake-detection-and-generatio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ai4media-bench.aimultimedialab.ro/competitions/public/"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30480" y="128016"/>
            <a:ext cx="12191695" cy="6428232"/>
          </a:xfrm>
          <a:prstGeom prst="rect">
            <a:avLst/>
          </a:prstGeom>
          <a:solidFill>
            <a:srgbClr val="F6F8FB"/>
          </a:solidFill>
          <a:ln w="12700">
            <a:solidFill>
              <a:srgbClr val="F6F8FB"/>
            </a:solidFill>
            <a:prstDash val="solid"/>
          </a:ln>
        </p:spPr>
      </p:sp>
      <p:sp>
        <p:nvSpPr>
          <p:cNvPr id="3" name="Shape 1"/>
          <p:cNvSpPr/>
          <p:nvPr/>
        </p:nvSpPr>
        <p:spPr>
          <a:xfrm>
            <a:off x="6903720" y="777240"/>
            <a:ext cx="4800600" cy="4572000"/>
          </a:xfrm>
          <a:prstGeom prst="roundRect">
            <a:avLst>
              <a:gd name="adj" fmla="val 2400"/>
            </a:avLst>
          </a:prstGeom>
          <a:solidFill>
            <a:srgbClr val="EBF5FF"/>
          </a:solidFill>
          <a:ln w="12700">
            <a:solidFill>
              <a:srgbClr val="CFE7FF"/>
            </a:solidFill>
            <a:prstDash val="solid"/>
          </a:ln>
        </p:spPr>
      </p:sp>
      <p:sp>
        <p:nvSpPr>
          <p:cNvPr id="5" name="Text 2"/>
          <p:cNvSpPr/>
          <p:nvPr/>
        </p:nvSpPr>
        <p:spPr>
          <a:xfrm>
            <a:off x="621792" y="914400"/>
            <a:ext cx="5806440" cy="1417320"/>
          </a:xfrm>
          <a:prstGeom prst="rect">
            <a:avLst/>
          </a:prstGeom>
          <a:noFill/>
          <a:ln/>
        </p:spPr>
        <p:txBody>
          <a:bodyPr wrap="square" lIns="0" tIns="0" rIns="0" bIns="0" rtlCol="0" anchor="ctr"/>
          <a:lstStyle/>
          <a:p>
            <a:pPr marL="0" indent="0">
              <a:buNone/>
            </a:pPr>
            <a:r>
              <a:rPr lang="en-US" sz="2600" b="1" dirty="0">
                <a:solidFill>
                  <a:srgbClr val="10233D"/>
                </a:solidFill>
                <a:latin typeface="Georgia" panose="02040502050405020303" pitchFamily="18" charset="0"/>
                <a:ea typeface="Aptos Display" pitchFamily="34" charset="-122"/>
                <a:cs typeface="Aptos Display" pitchFamily="34" charset="-120"/>
              </a:rPr>
              <a:t>ImageCLEF 2026</a:t>
            </a:r>
            <a:endParaRPr lang="en-US" sz="2600" dirty="0">
              <a:latin typeface="Georgia" panose="02040502050405020303" pitchFamily="18" charset="0"/>
            </a:endParaRPr>
          </a:p>
          <a:p>
            <a:pPr marL="0" indent="0">
              <a:buNone/>
            </a:pPr>
            <a:r>
              <a:rPr lang="en-US" sz="2600" b="1" dirty="0">
                <a:solidFill>
                  <a:srgbClr val="10233D"/>
                </a:solidFill>
                <a:latin typeface="Georgia" panose="02040502050405020303" pitchFamily="18" charset="0"/>
                <a:ea typeface="Aptos Display" pitchFamily="34" charset="-122"/>
                <a:cs typeface="Aptos Display" pitchFamily="34" charset="-120"/>
              </a:rPr>
              <a:t>Deepfake Detection &amp; Generation</a:t>
            </a:r>
            <a:endParaRPr lang="en-US" sz="2600" dirty="0">
              <a:latin typeface="Georgia" panose="02040502050405020303" pitchFamily="18" charset="0"/>
            </a:endParaRPr>
          </a:p>
        </p:txBody>
      </p:sp>
      <p:sp>
        <p:nvSpPr>
          <p:cNvPr id="6" name="Text 3"/>
          <p:cNvSpPr/>
          <p:nvPr/>
        </p:nvSpPr>
        <p:spPr>
          <a:xfrm>
            <a:off x="658367" y="2487168"/>
            <a:ext cx="6122581" cy="731520"/>
          </a:xfrm>
          <a:prstGeom prst="rect">
            <a:avLst/>
          </a:prstGeom>
          <a:noFill/>
          <a:ln/>
        </p:spPr>
        <p:txBody>
          <a:bodyPr wrap="square" lIns="0" tIns="0" rIns="0" bIns="0" rtlCol="0" anchor="ctr"/>
          <a:lstStyle/>
          <a:p>
            <a:pPr marL="0" indent="0" algn="just">
              <a:buNone/>
            </a:pPr>
            <a:r>
              <a:rPr lang="en-US" sz="1500" dirty="0">
                <a:solidFill>
                  <a:srgbClr val="374151"/>
                </a:solidFill>
                <a:latin typeface="Georgia" panose="02040502050405020303" pitchFamily="18" charset="0"/>
              </a:rPr>
              <a:t>Competition overview, evaluation logic, and a realistic high-performance system plan.</a:t>
            </a:r>
            <a:endParaRPr lang="en-US" sz="1500" dirty="0">
              <a:latin typeface="Georgia" panose="02040502050405020303" pitchFamily="18" charset="0"/>
            </a:endParaRPr>
          </a:p>
        </p:txBody>
      </p:sp>
      <p:sp>
        <p:nvSpPr>
          <p:cNvPr id="7" name="Shape 4"/>
          <p:cNvSpPr/>
          <p:nvPr/>
        </p:nvSpPr>
        <p:spPr>
          <a:xfrm>
            <a:off x="658368" y="3429000"/>
            <a:ext cx="1691640" cy="310896"/>
          </a:xfrm>
          <a:prstGeom prst="roundRect">
            <a:avLst>
              <a:gd name="adj" fmla="val 23529"/>
            </a:avLst>
          </a:prstGeom>
          <a:solidFill>
            <a:srgbClr val="EDF6FF"/>
          </a:solidFill>
          <a:ln w="12700">
            <a:solidFill>
              <a:srgbClr val="EDF6FF"/>
            </a:solidFill>
            <a:prstDash val="solid"/>
          </a:ln>
        </p:spPr>
      </p:sp>
      <p:sp>
        <p:nvSpPr>
          <p:cNvPr id="8" name="Text 5"/>
          <p:cNvSpPr/>
          <p:nvPr/>
        </p:nvSpPr>
        <p:spPr>
          <a:xfrm>
            <a:off x="768096" y="3488436"/>
            <a:ext cx="1472184" cy="251460"/>
          </a:xfrm>
          <a:prstGeom prst="rect">
            <a:avLst/>
          </a:prstGeom>
          <a:noFill/>
          <a:ln/>
        </p:spPr>
        <p:txBody>
          <a:bodyPr wrap="square" lIns="0" tIns="0" rIns="0" bIns="0" rtlCol="0" anchor="ctr"/>
          <a:lstStyle/>
          <a:p>
            <a:pPr marL="0" indent="0" algn="ctr">
              <a:buNone/>
            </a:pPr>
            <a:r>
              <a:rPr lang="en-US" sz="950" b="1" dirty="0">
                <a:solidFill>
                  <a:srgbClr val="2E6BB0"/>
                </a:solidFill>
                <a:latin typeface="Georgia" panose="02040502050405020303" pitchFamily="18" charset="0"/>
              </a:rPr>
              <a:t>1st edition</a:t>
            </a:r>
            <a:endParaRPr lang="en-US" sz="950" dirty="0">
              <a:latin typeface="Georgia" panose="02040502050405020303" pitchFamily="18" charset="0"/>
            </a:endParaRPr>
          </a:p>
        </p:txBody>
      </p:sp>
      <p:sp>
        <p:nvSpPr>
          <p:cNvPr id="9" name="Shape 6"/>
          <p:cNvSpPr/>
          <p:nvPr/>
        </p:nvSpPr>
        <p:spPr>
          <a:xfrm>
            <a:off x="2487168" y="3429000"/>
            <a:ext cx="1993392" cy="310896"/>
          </a:xfrm>
          <a:prstGeom prst="roundRect">
            <a:avLst>
              <a:gd name="adj" fmla="val 23529"/>
            </a:avLst>
          </a:prstGeom>
          <a:solidFill>
            <a:srgbClr val="EDF6FF"/>
          </a:solidFill>
          <a:ln w="12700">
            <a:solidFill>
              <a:srgbClr val="EDF6FF"/>
            </a:solidFill>
            <a:prstDash val="solid"/>
          </a:ln>
        </p:spPr>
      </p:sp>
      <p:sp>
        <p:nvSpPr>
          <p:cNvPr id="10" name="Text 7"/>
          <p:cNvSpPr/>
          <p:nvPr/>
        </p:nvSpPr>
        <p:spPr>
          <a:xfrm>
            <a:off x="2596896" y="3488436"/>
            <a:ext cx="1773936" cy="251460"/>
          </a:xfrm>
          <a:prstGeom prst="rect">
            <a:avLst/>
          </a:prstGeom>
          <a:noFill/>
          <a:ln/>
        </p:spPr>
        <p:txBody>
          <a:bodyPr wrap="square" lIns="0" tIns="0" rIns="0" bIns="0" rtlCol="0" anchor="ctr"/>
          <a:lstStyle/>
          <a:p>
            <a:pPr marL="0" indent="0" algn="ctr">
              <a:buNone/>
            </a:pPr>
            <a:r>
              <a:rPr lang="en-US" sz="950" b="1" dirty="0">
                <a:solidFill>
                  <a:srgbClr val="2E6BB0"/>
                </a:solidFill>
                <a:latin typeface="Georgia" panose="02040502050405020303" pitchFamily="18" charset="0"/>
              </a:rPr>
              <a:t>Audio + Images</a:t>
            </a:r>
            <a:endParaRPr lang="en-US" sz="950" dirty="0">
              <a:latin typeface="Georgia" panose="02040502050405020303" pitchFamily="18" charset="0"/>
            </a:endParaRPr>
          </a:p>
        </p:txBody>
      </p:sp>
      <p:sp>
        <p:nvSpPr>
          <p:cNvPr id="11" name="Shape 8"/>
          <p:cNvSpPr/>
          <p:nvPr/>
        </p:nvSpPr>
        <p:spPr>
          <a:xfrm>
            <a:off x="4617720" y="3429000"/>
            <a:ext cx="1810512" cy="310896"/>
          </a:xfrm>
          <a:prstGeom prst="roundRect">
            <a:avLst>
              <a:gd name="adj" fmla="val 23529"/>
            </a:avLst>
          </a:prstGeom>
          <a:solidFill>
            <a:srgbClr val="EDF6FF"/>
          </a:solidFill>
          <a:ln w="12700">
            <a:solidFill>
              <a:srgbClr val="EDF6FF"/>
            </a:solidFill>
            <a:prstDash val="solid"/>
          </a:ln>
        </p:spPr>
      </p:sp>
      <p:sp>
        <p:nvSpPr>
          <p:cNvPr id="12" name="Text 9"/>
          <p:cNvSpPr/>
          <p:nvPr/>
        </p:nvSpPr>
        <p:spPr>
          <a:xfrm>
            <a:off x="4727448" y="3488436"/>
            <a:ext cx="1591056" cy="251460"/>
          </a:xfrm>
          <a:prstGeom prst="rect">
            <a:avLst/>
          </a:prstGeom>
          <a:noFill/>
          <a:ln/>
        </p:spPr>
        <p:txBody>
          <a:bodyPr wrap="square" lIns="0" tIns="0" rIns="0" bIns="0" rtlCol="0" anchor="ctr"/>
          <a:lstStyle/>
          <a:p>
            <a:pPr marL="0" indent="0" algn="ctr">
              <a:buNone/>
            </a:pPr>
            <a:r>
              <a:rPr lang="en-US" sz="950" b="1" dirty="0">
                <a:solidFill>
                  <a:srgbClr val="2E6BB0"/>
                </a:solidFill>
                <a:latin typeface="Georgia" panose="02040502050405020303" pitchFamily="18" charset="0"/>
              </a:rPr>
              <a:t>2 subtasks</a:t>
            </a:r>
            <a:endParaRPr lang="en-US" sz="950" dirty="0">
              <a:latin typeface="Georgia" panose="02040502050405020303" pitchFamily="18" charset="0"/>
            </a:endParaRPr>
          </a:p>
        </p:txBody>
      </p:sp>
      <p:sp>
        <p:nvSpPr>
          <p:cNvPr id="13" name="Shape 10"/>
          <p:cNvSpPr/>
          <p:nvPr/>
        </p:nvSpPr>
        <p:spPr>
          <a:xfrm>
            <a:off x="658368" y="4005072"/>
            <a:ext cx="5440680" cy="1417320"/>
          </a:xfrm>
          <a:prstGeom prst="roundRect">
            <a:avLst>
              <a:gd name="adj" fmla="val 5161"/>
            </a:avLst>
          </a:prstGeom>
          <a:solidFill>
            <a:srgbClr val="FFFFFF"/>
          </a:solidFill>
          <a:ln w="12700">
            <a:solidFill>
              <a:srgbClr val="E5E7EB"/>
            </a:solidFill>
            <a:prstDash val="solid"/>
          </a:ln>
          <a:effectLst>
            <a:outerShdw blurRad="12700" dist="3810" dir="2700000" algn="bl" rotWithShape="0">
              <a:srgbClr val="000000">
                <a:alpha val="8000"/>
              </a:srgbClr>
            </a:outerShdw>
          </a:effectLst>
        </p:spPr>
      </p:sp>
      <p:sp>
        <p:nvSpPr>
          <p:cNvPr id="14" name="Text 11"/>
          <p:cNvSpPr/>
          <p:nvPr/>
        </p:nvSpPr>
        <p:spPr>
          <a:xfrm>
            <a:off x="896112" y="4090737"/>
            <a:ext cx="4983480" cy="1258503"/>
          </a:xfrm>
          <a:prstGeom prst="rect">
            <a:avLst/>
          </a:prstGeom>
          <a:noFill/>
          <a:ln/>
        </p:spPr>
        <p:txBody>
          <a:bodyPr wrap="square" lIns="0" tIns="0" rIns="0" bIns="0" rtlCol="0" anchor="ctr">
            <a:normAutofit fontScale="92500" lnSpcReduction="20000"/>
          </a:bodyPr>
          <a:lstStyle/>
          <a:p>
            <a:pPr marL="0" indent="0" algn="just">
              <a:buNone/>
            </a:pPr>
            <a:r>
              <a:rPr lang="en-US" sz="1500" b="1" dirty="0">
                <a:solidFill>
                  <a:srgbClr val="10233D"/>
                </a:solidFill>
                <a:latin typeface="Georgia" panose="02040502050405020303" pitchFamily="18" charset="0"/>
              </a:rPr>
              <a:t>Deepfakes </a:t>
            </a:r>
            <a:r>
              <a:rPr lang="en-US" sz="1500" dirty="0">
                <a:solidFill>
                  <a:srgbClr val="10233D"/>
                </a:solidFill>
                <a:latin typeface="Georgia" panose="02040502050405020303" pitchFamily="18" charset="0"/>
              </a:rPr>
              <a:t>are AI-generated media that portray real individuals and are often created to manipulate, mislead, or misinform the public.</a:t>
            </a:r>
          </a:p>
          <a:p>
            <a:pPr marL="0" indent="0" algn="just">
              <a:buNone/>
            </a:pPr>
            <a:endParaRPr lang="en-US" sz="1500" b="1" dirty="0">
              <a:solidFill>
                <a:srgbClr val="10233D"/>
              </a:solidFill>
              <a:latin typeface="Georgia" panose="02040502050405020303" pitchFamily="18" charset="0"/>
            </a:endParaRPr>
          </a:p>
          <a:p>
            <a:pPr marL="0" indent="0" algn="just">
              <a:buNone/>
            </a:pPr>
            <a:r>
              <a:rPr lang="en-US" sz="1500" b="1" dirty="0">
                <a:solidFill>
                  <a:srgbClr val="10233D"/>
                </a:solidFill>
                <a:latin typeface="Georgia" panose="02040502050405020303" pitchFamily="18" charset="0"/>
              </a:rPr>
              <a:t>Why it matters: </a:t>
            </a:r>
            <a:r>
              <a:rPr lang="en-US" sz="1500" dirty="0">
                <a:solidFill>
                  <a:srgbClr val="374151"/>
                </a:solidFill>
                <a:latin typeface="Georgia" panose="02040502050405020303" pitchFamily="18" charset="0"/>
              </a:rPr>
              <a:t>the challenge explicitly targets realistic deepfakes and detector generalization to unseen generation methods.</a:t>
            </a:r>
            <a:endParaRPr lang="en-US" sz="1500" dirty="0">
              <a:latin typeface="Georgia" panose="02040502050405020303" pitchFamily="18" charset="0"/>
            </a:endParaRPr>
          </a:p>
        </p:txBody>
      </p:sp>
      <p:sp>
        <p:nvSpPr>
          <p:cNvPr id="15" name="Text 12"/>
          <p:cNvSpPr/>
          <p:nvPr/>
        </p:nvSpPr>
        <p:spPr>
          <a:xfrm>
            <a:off x="7150608" y="5468112"/>
            <a:ext cx="4343400" cy="219456"/>
          </a:xfrm>
          <a:prstGeom prst="rect">
            <a:avLst/>
          </a:prstGeom>
          <a:noFill/>
          <a:ln/>
        </p:spPr>
        <p:txBody>
          <a:bodyPr wrap="square" lIns="0" tIns="0" rIns="0" bIns="0" rtlCol="0" anchor="ctr"/>
          <a:lstStyle/>
          <a:p>
            <a:pPr algn="ctr"/>
            <a:r>
              <a:rPr lang="en-US" sz="1300" dirty="0">
                <a:solidFill>
                  <a:srgbClr val="4B5563"/>
                </a:solidFill>
                <a:latin typeface="Georgia" panose="02040502050405020303" pitchFamily="18" charset="0"/>
              </a:rPr>
              <a:t>Fig.1. Overview of generation task.</a:t>
            </a:r>
            <a:endParaRPr lang="en-US" sz="1300" dirty="0">
              <a:latin typeface="Georgia" panose="02040502050405020303" pitchFamily="18" charset="0"/>
            </a:endParaRPr>
          </a:p>
        </p:txBody>
      </p:sp>
      <p:sp>
        <p:nvSpPr>
          <p:cNvPr id="16" name="Text 13"/>
          <p:cNvSpPr/>
          <p:nvPr/>
        </p:nvSpPr>
        <p:spPr>
          <a:xfrm>
            <a:off x="11612880" y="6574536"/>
            <a:ext cx="274320" cy="146304"/>
          </a:xfrm>
          <a:prstGeom prst="rect">
            <a:avLst/>
          </a:prstGeom>
          <a:noFill/>
          <a:ln/>
        </p:spPr>
        <p:txBody>
          <a:bodyPr wrap="square" lIns="0" tIns="0" rIns="0" bIns="0" rtlCol="0" anchor="ctr"/>
          <a:lstStyle/>
          <a:p>
            <a:pPr marL="0" indent="0" algn="r">
              <a:buNone/>
            </a:pPr>
            <a:r>
              <a:rPr lang="en-US" sz="900" dirty="0">
                <a:solidFill>
                  <a:srgbClr val="6B7280"/>
                </a:solidFill>
              </a:rPr>
              <a:t>1</a:t>
            </a:r>
            <a:endParaRPr lang="en-US" sz="900" dirty="0"/>
          </a:p>
        </p:txBody>
      </p:sp>
      <p:pic>
        <p:nvPicPr>
          <p:cNvPr id="18" name="Picture 17">
            <a:extLst>
              <a:ext uri="{FF2B5EF4-FFF2-40B4-BE49-F238E27FC236}">
                <a16:creationId xmlns:a16="http://schemas.microsoft.com/office/drawing/2014/main" id="{E37DF46A-E528-D6B8-AA7B-77562E2EA960}"/>
              </a:ext>
            </a:extLst>
          </p:cNvPr>
          <p:cNvPicPr>
            <a:picLocks noChangeAspect="1"/>
          </p:cNvPicPr>
          <p:nvPr/>
        </p:nvPicPr>
        <p:blipFill>
          <a:blip r:embed="rId3"/>
          <a:stretch>
            <a:fillRect/>
          </a:stretch>
        </p:blipFill>
        <p:spPr>
          <a:xfrm>
            <a:off x="7026490" y="899749"/>
            <a:ext cx="4555059" cy="4326981"/>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10896"/>
            <a:ext cx="7863840" cy="411480"/>
          </a:xfrm>
          <a:prstGeom prst="rect">
            <a:avLst/>
          </a:prstGeom>
          <a:noFill/>
          <a:ln/>
        </p:spPr>
        <p:txBody>
          <a:bodyPr wrap="square" lIns="0" tIns="0" rIns="0" bIns="0" rtlCol="0" anchor="ctr"/>
          <a:lstStyle/>
          <a:p>
            <a:pPr marL="0" indent="0">
              <a:buNone/>
            </a:pPr>
            <a:r>
              <a:rPr lang="en-US" sz="2300" b="1" dirty="0">
                <a:solidFill>
                  <a:srgbClr val="10233D"/>
                </a:solidFill>
                <a:latin typeface="Georgia" panose="02040502050405020303" pitchFamily="18" charset="0"/>
                <a:ea typeface="Aptos Display" pitchFamily="34" charset="-122"/>
                <a:cs typeface="Aptos Display" pitchFamily="34" charset="-120"/>
              </a:rPr>
              <a:t>Task Description</a:t>
            </a:r>
            <a:endParaRPr lang="en-US" sz="2300" dirty="0">
              <a:latin typeface="Georgia" panose="02040502050405020303" pitchFamily="18" charset="0"/>
            </a:endParaRPr>
          </a:p>
        </p:txBody>
      </p:sp>
      <p:sp>
        <p:nvSpPr>
          <p:cNvPr id="3" name="Text 1"/>
          <p:cNvSpPr/>
          <p:nvPr/>
        </p:nvSpPr>
        <p:spPr>
          <a:xfrm>
            <a:off x="512064" y="749808"/>
            <a:ext cx="7498080" cy="210312"/>
          </a:xfrm>
          <a:prstGeom prst="rect">
            <a:avLst/>
          </a:prstGeom>
          <a:noFill/>
          <a:ln/>
        </p:spPr>
        <p:txBody>
          <a:bodyPr wrap="square" lIns="0" tIns="0" rIns="0" bIns="0" rtlCol="0" anchor="ctr"/>
          <a:lstStyle/>
          <a:p>
            <a:r>
              <a:rPr lang="en-US" sz="1300" dirty="0" smtClean="0">
                <a:solidFill>
                  <a:srgbClr val="2C3F4C"/>
                </a:solidFill>
                <a:latin typeface="Georgia" panose="02040502050405020303" pitchFamily="18" charset="0"/>
              </a:rPr>
              <a:t>Image CLEF </a:t>
            </a:r>
            <a:r>
              <a:rPr lang="en-US" sz="1300" dirty="0">
                <a:solidFill>
                  <a:srgbClr val="2C3F4C"/>
                </a:solidFill>
                <a:latin typeface="Georgia" panose="02040502050405020303" pitchFamily="18" charset="0"/>
              </a:rPr>
              <a:t>page: </a:t>
            </a:r>
            <a:r>
              <a:rPr lang="en-US" sz="1300" dirty="0">
                <a:solidFill>
                  <a:srgbClr val="2563EB"/>
                </a:solidFill>
                <a:latin typeface="Georgia" panose="02040502050405020303" pitchFamily="18" charset="0"/>
                <a:hlinkClick r:id="rId3"/>
              </a:rPr>
              <a:t>https://www.imageclef.org/2026/deepfake-detection-and-generation</a:t>
            </a:r>
            <a:r>
              <a:rPr lang="en-US" sz="1300" dirty="0">
                <a:solidFill>
                  <a:srgbClr val="4B5563"/>
                </a:solidFill>
                <a:latin typeface="Georgia" panose="02040502050405020303" pitchFamily="18" charset="0"/>
              </a:rPr>
              <a:t> </a:t>
            </a:r>
            <a:endParaRPr lang="en-US" sz="1300" dirty="0">
              <a:latin typeface="Georgia" panose="02040502050405020303" pitchFamily="18" charset="0"/>
            </a:endParaRPr>
          </a:p>
        </p:txBody>
      </p:sp>
      <p:sp>
        <p:nvSpPr>
          <p:cNvPr id="4" name="Shape 2"/>
          <p:cNvSpPr/>
          <p:nvPr/>
        </p:nvSpPr>
        <p:spPr>
          <a:xfrm>
            <a:off x="594360" y="1143000"/>
            <a:ext cx="6766560" cy="4480560"/>
          </a:xfrm>
          <a:prstGeom prst="roundRect">
            <a:avLst>
              <a:gd name="adj" fmla="val 1633"/>
            </a:avLst>
          </a:prstGeom>
          <a:solidFill>
            <a:srgbClr val="FFFFFF"/>
          </a:solidFill>
          <a:ln w="12700">
            <a:solidFill>
              <a:srgbClr val="E5E7EB"/>
            </a:solidFill>
            <a:prstDash val="solid"/>
          </a:ln>
        </p:spPr>
      </p:sp>
      <p:sp>
        <p:nvSpPr>
          <p:cNvPr id="5" name="Shape 3"/>
          <p:cNvSpPr/>
          <p:nvPr/>
        </p:nvSpPr>
        <p:spPr>
          <a:xfrm>
            <a:off x="1691640" y="1143000"/>
            <a:ext cx="2834640" cy="548640"/>
          </a:xfrm>
          <a:prstGeom prst="rect">
            <a:avLst/>
          </a:prstGeom>
          <a:solidFill>
            <a:srgbClr val="EDF6FF"/>
          </a:solidFill>
          <a:ln w="12700">
            <a:solidFill>
              <a:srgbClr val="E5E7EB"/>
            </a:solidFill>
            <a:prstDash val="solid"/>
          </a:ln>
        </p:spPr>
      </p:sp>
      <p:sp>
        <p:nvSpPr>
          <p:cNvPr id="6" name="Shape 4"/>
          <p:cNvSpPr/>
          <p:nvPr/>
        </p:nvSpPr>
        <p:spPr>
          <a:xfrm>
            <a:off x="4526280" y="1143000"/>
            <a:ext cx="2834640" cy="548640"/>
          </a:xfrm>
          <a:prstGeom prst="rect">
            <a:avLst/>
          </a:prstGeom>
          <a:solidFill>
            <a:srgbClr val="EDF6FF"/>
          </a:solidFill>
          <a:ln w="12700">
            <a:solidFill>
              <a:srgbClr val="E5E7EB"/>
            </a:solidFill>
            <a:prstDash val="solid"/>
          </a:ln>
        </p:spPr>
      </p:sp>
      <p:sp>
        <p:nvSpPr>
          <p:cNvPr id="7" name="Shape 5"/>
          <p:cNvSpPr/>
          <p:nvPr/>
        </p:nvSpPr>
        <p:spPr>
          <a:xfrm>
            <a:off x="594360" y="1691640"/>
            <a:ext cx="1097280" cy="1965960"/>
          </a:xfrm>
          <a:prstGeom prst="rect">
            <a:avLst/>
          </a:prstGeom>
          <a:solidFill>
            <a:srgbClr val="EEF8F5"/>
          </a:solidFill>
          <a:ln w="12700">
            <a:solidFill>
              <a:srgbClr val="E5E7EB"/>
            </a:solidFill>
            <a:prstDash val="solid"/>
          </a:ln>
        </p:spPr>
      </p:sp>
      <p:sp>
        <p:nvSpPr>
          <p:cNvPr id="8" name="Shape 6"/>
          <p:cNvSpPr/>
          <p:nvPr/>
        </p:nvSpPr>
        <p:spPr>
          <a:xfrm>
            <a:off x="594360" y="3657600"/>
            <a:ext cx="1097280" cy="1965960"/>
          </a:xfrm>
          <a:prstGeom prst="rect">
            <a:avLst/>
          </a:prstGeom>
          <a:solidFill>
            <a:srgbClr val="FFF7EA"/>
          </a:solidFill>
          <a:ln w="12700">
            <a:solidFill>
              <a:srgbClr val="E5E7EB"/>
            </a:solidFill>
            <a:prstDash val="solid"/>
          </a:ln>
        </p:spPr>
      </p:sp>
      <p:sp>
        <p:nvSpPr>
          <p:cNvPr id="9" name="Text 7"/>
          <p:cNvSpPr/>
          <p:nvPr/>
        </p:nvSpPr>
        <p:spPr>
          <a:xfrm>
            <a:off x="1691640" y="1289304"/>
            <a:ext cx="2834640" cy="219456"/>
          </a:xfrm>
          <a:prstGeom prst="rect">
            <a:avLst/>
          </a:prstGeom>
          <a:noFill/>
          <a:ln/>
        </p:spPr>
        <p:txBody>
          <a:bodyPr wrap="square" lIns="0" tIns="0" rIns="0" bIns="0" rtlCol="0" anchor="ctr"/>
          <a:lstStyle/>
          <a:p>
            <a:pPr marL="0" indent="0" algn="ctr">
              <a:buNone/>
            </a:pPr>
            <a:r>
              <a:rPr lang="en-US" sz="1600" b="1" dirty="0">
                <a:solidFill>
                  <a:srgbClr val="10233D"/>
                </a:solidFill>
                <a:latin typeface="Georgia" panose="02040502050405020303" pitchFamily="18" charset="0"/>
              </a:rPr>
              <a:t>Images</a:t>
            </a:r>
            <a:endParaRPr lang="en-US" sz="1600" dirty="0">
              <a:latin typeface="Georgia" panose="02040502050405020303" pitchFamily="18" charset="0"/>
            </a:endParaRPr>
          </a:p>
        </p:txBody>
      </p:sp>
      <p:sp>
        <p:nvSpPr>
          <p:cNvPr id="10" name="Text 8"/>
          <p:cNvSpPr/>
          <p:nvPr/>
        </p:nvSpPr>
        <p:spPr>
          <a:xfrm>
            <a:off x="4526280" y="1289304"/>
            <a:ext cx="2834640" cy="219456"/>
          </a:xfrm>
          <a:prstGeom prst="rect">
            <a:avLst/>
          </a:prstGeom>
          <a:noFill/>
          <a:ln/>
        </p:spPr>
        <p:txBody>
          <a:bodyPr wrap="square" lIns="0" tIns="0" rIns="0" bIns="0" rtlCol="0" anchor="ctr"/>
          <a:lstStyle/>
          <a:p>
            <a:pPr marL="0" indent="0" algn="ctr">
              <a:buNone/>
            </a:pPr>
            <a:r>
              <a:rPr lang="en-US" sz="1600" b="1" dirty="0">
                <a:solidFill>
                  <a:srgbClr val="10233D"/>
                </a:solidFill>
                <a:latin typeface="Georgia" panose="02040502050405020303" pitchFamily="18" charset="0"/>
              </a:rPr>
              <a:t>Audio</a:t>
            </a:r>
            <a:endParaRPr lang="en-US" sz="1600" dirty="0">
              <a:latin typeface="Georgia" panose="02040502050405020303" pitchFamily="18" charset="0"/>
            </a:endParaRPr>
          </a:p>
        </p:txBody>
      </p:sp>
      <p:sp>
        <p:nvSpPr>
          <p:cNvPr id="11" name="Text 9"/>
          <p:cNvSpPr/>
          <p:nvPr/>
        </p:nvSpPr>
        <p:spPr>
          <a:xfrm rot="16200000">
            <a:off x="480197" y="2501020"/>
            <a:ext cx="1179576" cy="420351"/>
          </a:xfrm>
          <a:prstGeom prst="rect">
            <a:avLst/>
          </a:prstGeom>
          <a:noFill/>
          <a:ln/>
        </p:spPr>
        <p:txBody>
          <a:bodyPr wrap="square" lIns="0" tIns="0" rIns="0" bIns="0" rtlCol="0" anchor="ctr"/>
          <a:lstStyle/>
          <a:p>
            <a:pPr marL="0" indent="0" algn="ctr">
              <a:buNone/>
            </a:pPr>
            <a:r>
              <a:rPr lang="en-US" sz="1500" b="1" dirty="0">
                <a:solidFill>
                  <a:srgbClr val="10B981"/>
                </a:solidFill>
                <a:latin typeface="Georgia" panose="02040502050405020303" pitchFamily="18" charset="0"/>
              </a:rPr>
              <a:t>Generation</a:t>
            </a:r>
            <a:endParaRPr lang="en-US" sz="1500" dirty="0">
              <a:latin typeface="Georgia" panose="02040502050405020303" pitchFamily="18" charset="0"/>
            </a:endParaRPr>
          </a:p>
        </p:txBody>
      </p:sp>
      <p:sp>
        <p:nvSpPr>
          <p:cNvPr id="12" name="Text 10"/>
          <p:cNvSpPr/>
          <p:nvPr/>
        </p:nvSpPr>
        <p:spPr>
          <a:xfrm rot="16200000">
            <a:off x="530489" y="4416688"/>
            <a:ext cx="1078992" cy="420351"/>
          </a:xfrm>
          <a:prstGeom prst="rect">
            <a:avLst/>
          </a:prstGeom>
          <a:noFill/>
          <a:ln/>
        </p:spPr>
        <p:txBody>
          <a:bodyPr wrap="square" lIns="0" tIns="0" rIns="0" bIns="0" rtlCol="0" anchor="ctr"/>
          <a:lstStyle/>
          <a:p>
            <a:pPr marL="0" indent="0" algn="ctr">
              <a:buNone/>
            </a:pPr>
            <a:r>
              <a:rPr lang="en-US" sz="1500" b="1" dirty="0">
                <a:solidFill>
                  <a:srgbClr val="F59E0B"/>
                </a:solidFill>
                <a:latin typeface="Georgia" panose="02040502050405020303" pitchFamily="18" charset="0"/>
              </a:rPr>
              <a:t>Detection</a:t>
            </a:r>
            <a:endParaRPr lang="en-US" sz="1500" dirty="0">
              <a:latin typeface="Georgia" panose="02040502050405020303" pitchFamily="18" charset="0"/>
            </a:endParaRPr>
          </a:p>
        </p:txBody>
      </p:sp>
      <p:sp>
        <p:nvSpPr>
          <p:cNvPr id="13" name="Text 11"/>
          <p:cNvSpPr/>
          <p:nvPr/>
        </p:nvSpPr>
        <p:spPr>
          <a:xfrm>
            <a:off x="1828800" y="1856232"/>
            <a:ext cx="2606040" cy="201168"/>
          </a:xfrm>
          <a:prstGeom prst="rect">
            <a:avLst/>
          </a:prstGeom>
          <a:noFill/>
          <a:ln/>
        </p:spPr>
        <p:txBody>
          <a:bodyPr wrap="square" lIns="0" tIns="0" rIns="0" bIns="0" rtlCol="0" anchor="ctr"/>
          <a:lstStyle/>
          <a:p>
            <a:pPr marL="0" indent="0">
              <a:buNone/>
            </a:pPr>
            <a:r>
              <a:rPr lang="en-US" sz="1400" b="1" dirty="0">
                <a:solidFill>
                  <a:srgbClr val="10233D"/>
                </a:solidFill>
                <a:latin typeface="Georgia" panose="02040502050405020303" pitchFamily="18" charset="0"/>
              </a:rPr>
              <a:t>Image generation</a:t>
            </a:r>
            <a:endParaRPr lang="en-US" sz="1400" dirty="0">
              <a:latin typeface="Georgia" panose="02040502050405020303" pitchFamily="18" charset="0"/>
            </a:endParaRPr>
          </a:p>
        </p:txBody>
      </p:sp>
      <p:sp>
        <p:nvSpPr>
          <p:cNvPr id="14" name="Text 12"/>
          <p:cNvSpPr/>
          <p:nvPr/>
        </p:nvSpPr>
        <p:spPr>
          <a:xfrm>
            <a:off x="1828800" y="2148840"/>
            <a:ext cx="2606040" cy="1508760"/>
          </a:xfrm>
          <a:prstGeom prst="rect">
            <a:avLst/>
          </a:prstGeom>
          <a:noFill/>
          <a:ln/>
        </p:spPr>
        <p:txBody>
          <a:bodyPr wrap="square" lIns="254" tIns="254" rIns="254" bIns="254" rtlCol="0" anchor="ctr">
            <a:normAutofit/>
          </a:bodyPr>
          <a:lstStyle/>
          <a:p>
            <a:pPr marL="152400" indent="-152400">
              <a:buSzPct val="100000"/>
              <a:buChar char="•"/>
            </a:pPr>
            <a:r>
              <a:rPr lang="en-US" sz="1300" dirty="0">
                <a:solidFill>
                  <a:srgbClr val="374151"/>
                </a:solidFill>
                <a:latin typeface="Georgia" panose="02040502050405020303" pitchFamily="18" charset="0"/>
              </a:rPr>
              <a:t>Few-shot identity-conditioned deepfake creation</a:t>
            </a:r>
          </a:p>
          <a:p>
            <a:pPr marL="152400" indent="-152400">
              <a:buSzPct val="100000"/>
              <a:buChar char="•"/>
            </a:pPr>
            <a:endParaRPr lang="en-US" sz="1300" dirty="0">
              <a:latin typeface="Georgia" panose="02040502050405020303" pitchFamily="18" charset="0"/>
            </a:endParaRPr>
          </a:p>
          <a:p>
            <a:pPr marL="152400" indent="-152400">
              <a:buSzPct val="100000"/>
              <a:buChar char="•"/>
            </a:pPr>
            <a:r>
              <a:rPr lang="en-US" sz="1300" dirty="0">
                <a:solidFill>
                  <a:srgbClr val="374151"/>
                </a:solidFill>
                <a:latin typeface="Georgia" panose="02040502050405020303" pitchFamily="18" charset="0"/>
              </a:rPr>
              <a:t>One reference video per identity</a:t>
            </a:r>
            <a:endParaRPr lang="en-US" sz="1300" dirty="0">
              <a:latin typeface="Georgia" panose="02040502050405020303" pitchFamily="18" charset="0"/>
            </a:endParaRPr>
          </a:p>
          <a:p>
            <a:pPr marL="152400" indent="-152400">
              <a:buSzPct val="100000"/>
              <a:buChar char="•"/>
            </a:pPr>
            <a:r>
              <a:rPr lang="en-US" sz="1300" dirty="0">
                <a:solidFill>
                  <a:srgbClr val="374151"/>
                </a:solidFill>
                <a:latin typeface="Georgia" panose="02040502050405020303" pitchFamily="18" charset="0"/>
              </a:rPr>
              <a:t>Must preserve facial landmarks + realism</a:t>
            </a:r>
            <a:endParaRPr lang="en-US" sz="1300" dirty="0">
              <a:latin typeface="Georgia" panose="02040502050405020303" pitchFamily="18" charset="0"/>
            </a:endParaRPr>
          </a:p>
        </p:txBody>
      </p:sp>
      <p:sp>
        <p:nvSpPr>
          <p:cNvPr id="15" name="Text 13"/>
          <p:cNvSpPr/>
          <p:nvPr/>
        </p:nvSpPr>
        <p:spPr>
          <a:xfrm>
            <a:off x="4663440" y="1856232"/>
            <a:ext cx="2606040" cy="201168"/>
          </a:xfrm>
          <a:prstGeom prst="rect">
            <a:avLst/>
          </a:prstGeom>
          <a:noFill/>
          <a:ln/>
        </p:spPr>
        <p:txBody>
          <a:bodyPr wrap="square" lIns="0" tIns="0" rIns="0" bIns="0" rtlCol="0" anchor="ctr"/>
          <a:lstStyle/>
          <a:p>
            <a:pPr marL="0" indent="0">
              <a:buNone/>
            </a:pPr>
            <a:r>
              <a:rPr lang="en-US" sz="1400" b="1" dirty="0">
                <a:solidFill>
                  <a:srgbClr val="10233D"/>
                </a:solidFill>
                <a:latin typeface="Georgia" panose="02040502050405020303" pitchFamily="18" charset="0"/>
              </a:rPr>
              <a:t>Audio generation</a:t>
            </a:r>
            <a:endParaRPr lang="en-US" sz="1400" dirty="0">
              <a:latin typeface="Georgia" panose="02040502050405020303" pitchFamily="18" charset="0"/>
            </a:endParaRPr>
          </a:p>
        </p:txBody>
      </p:sp>
      <p:sp>
        <p:nvSpPr>
          <p:cNvPr id="16" name="Text 14"/>
          <p:cNvSpPr/>
          <p:nvPr/>
        </p:nvSpPr>
        <p:spPr>
          <a:xfrm>
            <a:off x="4663440" y="2148840"/>
            <a:ext cx="2606040" cy="1417320"/>
          </a:xfrm>
          <a:prstGeom prst="rect">
            <a:avLst/>
          </a:prstGeom>
          <a:noFill/>
          <a:ln/>
        </p:spPr>
        <p:txBody>
          <a:bodyPr wrap="square" lIns="254" tIns="254" rIns="254" bIns="254" rtlCol="0" anchor="ctr">
            <a:normAutofit/>
          </a:bodyPr>
          <a:lstStyle/>
          <a:p>
            <a:pPr marL="152400" indent="-152400">
              <a:buSzPct val="100000"/>
              <a:buChar char="•"/>
            </a:pPr>
            <a:r>
              <a:rPr lang="en-US" sz="1300" dirty="0">
                <a:solidFill>
                  <a:srgbClr val="374151"/>
                </a:solidFill>
                <a:latin typeface="Georgia" panose="02040502050405020303" pitchFamily="18" charset="0"/>
              </a:rPr>
              <a:t>Few-shot voice deepfake creation</a:t>
            </a:r>
          </a:p>
          <a:p>
            <a:pPr marL="152400" indent="-152400">
              <a:buSzPct val="100000"/>
              <a:buChar char="•"/>
            </a:pPr>
            <a:endParaRPr lang="en-US" sz="1300" dirty="0">
              <a:latin typeface="Georgia" panose="02040502050405020303" pitchFamily="18" charset="0"/>
            </a:endParaRPr>
          </a:p>
          <a:p>
            <a:pPr marL="152400" indent="-152400">
              <a:buSzPct val="100000"/>
              <a:buChar char="•"/>
            </a:pPr>
            <a:r>
              <a:rPr lang="en-US" sz="1300" dirty="0">
                <a:solidFill>
                  <a:srgbClr val="374151"/>
                </a:solidFill>
                <a:latin typeface="Georgia" panose="02040502050405020303" pitchFamily="18" charset="0"/>
              </a:rPr>
              <a:t>One reference audio per identity</a:t>
            </a:r>
            <a:endParaRPr lang="en-US" sz="1300" dirty="0">
              <a:latin typeface="Georgia" panose="02040502050405020303" pitchFamily="18" charset="0"/>
            </a:endParaRPr>
          </a:p>
          <a:p>
            <a:pPr marL="152400" indent="-152400">
              <a:buSzPct val="100000"/>
              <a:buChar char="•"/>
            </a:pPr>
            <a:r>
              <a:rPr lang="en-US" sz="1300" dirty="0">
                <a:solidFill>
                  <a:srgbClr val="374151"/>
                </a:solidFill>
                <a:latin typeface="Georgia" panose="02040502050405020303" pitchFamily="18" charset="0"/>
              </a:rPr>
              <a:t>Must speak a required text prompt</a:t>
            </a:r>
            <a:endParaRPr lang="en-US" sz="1300" dirty="0">
              <a:latin typeface="Georgia" panose="02040502050405020303" pitchFamily="18" charset="0"/>
            </a:endParaRPr>
          </a:p>
        </p:txBody>
      </p:sp>
      <p:sp>
        <p:nvSpPr>
          <p:cNvPr id="17" name="Text 15"/>
          <p:cNvSpPr/>
          <p:nvPr/>
        </p:nvSpPr>
        <p:spPr>
          <a:xfrm>
            <a:off x="1828800" y="3822192"/>
            <a:ext cx="2606040" cy="201168"/>
          </a:xfrm>
          <a:prstGeom prst="rect">
            <a:avLst/>
          </a:prstGeom>
          <a:noFill/>
          <a:ln/>
        </p:spPr>
        <p:txBody>
          <a:bodyPr wrap="square" lIns="0" tIns="0" rIns="0" bIns="0" rtlCol="0" anchor="ctr"/>
          <a:lstStyle/>
          <a:p>
            <a:pPr marL="0" indent="0">
              <a:buNone/>
            </a:pPr>
            <a:r>
              <a:rPr lang="en-US" sz="1400" b="1" dirty="0">
                <a:solidFill>
                  <a:srgbClr val="10233D"/>
                </a:solidFill>
                <a:latin typeface="Georgia" panose="02040502050405020303" pitchFamily="18" charset="0"/>
              </a:rPr>
              <a:t>Image detection</a:t>
            </a:r>
            <a:endParaRPr lang="en-US" sz="1400" dirty="0">
              <a:latin typeface="Georgia" panose="02040502050405020303" pitchFamily="18" charset="0"/>
            </a:endParaRPr>
          </a:p>
        </p:txBody>
      </p:sp>
      <p:sp>
        <p:nvSpPr>
          <p:cNvPr id="18" name="Text 16"/>
          <p:cNvSpPr/>
          <p:nvPr/>
        </p:nvSpPr>
        <p:spPr>
          <a:xfrm>
            <a:off x="1828800" y="4114800"/>
            <a:ext cx="2606040" cy="1417320"/>
          </a:xfrm>
          <a:prstGeom prst="rect">
            <a:avLst/>
          </a:prstGeom>
          <a:noFill/>
          <a:ln/>
        </p:spPr>
        <p:txBody>
          <a:bodyPr wrap="square" lIns="254" tIns="254" rIns="254" bIns="254" rtlCol="0" anchor="ctr">
            <a:normAutofit/>
          </a:bodyPr>
          <a:lstStyle/>
          <a:p>
            <a:pPr marL="152400" indent="-152400">
              <a:buSzPct val="100000"/>
              <a:buChar char="•"/>
            </a:pPr>
            <a:r>
              <a:rPr lang="en-US" sz="1300" dirty="0">
                <a:solidFill>
                  <a:srgbClr val="374151"/>
                </a:solidFill>
                <a:latin typeface="Georgia" panose="02040502050405020303" pitchFamily="18" charset="0"/>
              </a:rPr>
              <a:t>Binary (real vs deepfake) classification</a:t>
            </a:r>
          </a:p>
          <a:p>
            <a:pPr marL="152400" indent="-152400">
              <a:buSzPct val="100000"/>
              <a:buChar char="•"/>
            </a:pPr>
            <a:endParaRPr lang="en-US" sz="1300" dirty="0">
              <a:latin typeface="Georgia" panose="02040502050405020303" pitchFamily="18" charset="0"/>
            </a:endParaRPr>
          </a:p>
          <a:p>
            <a:pPr marL="152400" indent="-152400">
              <a:buSzPct val="100000"/>
              <a:buChar char="•"/>
            </a:pPr>
            <a:r>
              <a:rPr lang="en-US" sz="1300" dirty="0">
                <a:solidFill>
                  <a:srgbClr val="374151"/>
                </a:solidFill>
                <a:latin typeface="Georgia" panose="02040502050405020303" pitchFamily="18" charset="0"/>
              </a:rPr>
              <a:t>Needs robustness to organizer, internet, and participant fakes</a:t>
            </a:r>
            <a:endParaRPr lang="en-US" sz="1300" dirty="0">
              <a:latin typeface="Georgia" panose="02040502050405020303" pitchFamily="18" charset="0"/>
            </a:endParaRPr>
          </a:p>
        </p:txBody>
      </p:sp>
      <p:sp>
        <p:nvSpPr>
          <p:cNvPr id="19" name="Text 17"/>
          <p:cNvSpPr/>
          <p:nvPr/>
        </p:nvSpPr>
        <p:spPr>
          <a:xfrm>
            <a:off x="4663440" y="3822192"/>
            <a:ext cx="2606040" cy="201168"/>
          </a:xfrm>
          <a:prstGeom prst="rect">
            <a:avLst/>
          </a:prstGeom>
          <a:noFill/>
          <a:ln/>
        </p:spPr>
        <p:txBody>
          <a:bodyPr wrap="square" lIns="0" tIns="0" rIns="0" bIns="0" rtlCol="0" anchor="ctr"/>
          <a:lstStyle/>
          <a:p>
            <a:pPr marL="0" indent="0">
              <a:buNone/>
            </a:pPr>
            <a:r>
              <a:rPr lang="en-US" sz="1400" b="1" dirty="0">
                <a:solidFill>
                  <a:srgbClr val="10233D"/>
                </a:solidFill>
                <a:latin typeface="Georgia" panose="02040502050405020303" pitchFamily="18" charset="0"/>
              </a:rPr>
              <a:t>Audio detection</a:t>
            </a:r>
            <a:endParaRPr lang="en-US" sz="1400" dirty="0">
              <a:latin typeface="Georgia" panose="02040502050405020303" pitchFamily="18" charset="0"/>
            </a:endParaRPr>
          </a:p>
        </p:txBody>
      </p:sp>
      <p:sp>
        <p:nvSpPr>
          <p:cNvPr id="20" name="Text 18"/>
          <p:cNvSpPr/>
          <p:nvPr/>
        </p:nvSpPr>
        <p:spPr>
          <a:xfrm>
            <a:off x="4663440" y="4114800"/>
            <a:ext cx="2606040" cy="1417320"/>
          </a:xfrm>
          <a:prstGeom prst="rect">
            <a:avLst/>
          </a:prstGeom>
          <a:noFill/>
          <a:ln/>
        </p:spPr>
        <p:txBody>
          <a:bodyPr wrap="square" lIns="254" tIns="254" rIns="254" bIns="254" rtlCol="0" anchor="ctr">
            <a:normAutofit/>
          </a:bodyPr>
          <a:lstStyle/>
          <a:p>
            <a:pPr marL="152400" indent="-152400">
              <a:buSzPct val="100000"/>
              <a:buChar char="•"/>
            </a:pPr>
            <a:r>
              <a:rPr lang="en-US" sz="1300" dirty="0">
                <a:solidFill>
                  <a:srgbClr val="374151"/>
                </a:solidFill>
                <a:latin typeface="Georgia" panose="02040502050405020303" pitchFamily="18" charset="0"/>
              </a:rPr>
              <a:t>Binary (real vs deepfake) classification</a:t>
            </a:r>
          </a:p>
          <a:p>
            <a:pPr marL="152400" indent="-152400">
              <a:buSzPct val="100000"/>
              <a:buChar char="•"/>
            </a:pPr>
            <a:endParaRPr lang="en-US" sz="1300" dirty="0">
              <a:latin typeface="Georgia" panose="02040502050405020303" pitchFamily="18" charset="0"/>
            </a:endParaRPr>
          </a:p>
          <a:p>
            <a:pPr marL="152400" indent="-152400">
              <a:buSzPct val="100000"/>
              <a:buChar char="•"/>
            </a:pPr>
            <a:r>
              <a:rPr lang="en-US" sz="1300" dirty="0">
                <a:solidFill>
                  <a:srgbClr val="374151"/>
                </a:solidFill>
                <a:latin typeface="Georgia" panose="02040502050405020303" pitchFamily="18" charset="0"/>
              </a:rPr>
              <a:t>Must generalize beyond seen generators and conditions</a:t>
            </a:r>
            <a:endParaRPr lang="en-US" sz="1300" dirty="0">
              <a:latin typeface="Georgia" panose="02040502050405020303" pitchFamily="18" charset="0"/>
            </a:endParaRPr>
          </a:p>
        </p:txBody>
      </p:sp>
      <p:sp>
        <p:nvSpPr>
          <p:cNvPr id="21" name="Shape 19"/>
          <p:cNvSpPr/>
          <p:nvPr/>
        </p:nvSpPr>
        <p:spPr>
          <a:xfrm>
            <a:off x="7635240" y="1143000"/>
            <a:ext cx="3977640" cy="1874520"/>
          </a:xfrm>
          <a:prstGeom prst="roundRect">
            <a:avLst>
              <a:gd name="adj" fmla="val 3902"/>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22" name="Shape 20"/>
          <p:cNvSpPr/>
          <p:nvPr/>
        </p:nvSpPr>
        <p:spPr>
          <a:xfrm>
            <a:off x="7635240" y="1143000"/>
            <a:ext cx="73152" cy="1874520"/>
          </a:xfrm>
          <a:prstGeom prst="rect">
            <a:avLst/>
          </a:prstGeom>
          <a:solidFill>
            <a:srgbClr val="5FA4E8"/>
          </a:solidFill>
          <a:ln w="12700">
            <a:solidFill>
              <a:srgbClr val="5FA4E8"/>
            </a:solidFill>
            <a:prstDash val="solid"/>
          </a:ln>
        </p:spPr>
      </p:sp>
      <p:sp>
        <p:nvSpPr>
          <p:cNvPr id="23" name="Text 21"/>
          <p:cNvSpPr/>
          <p:nvPr/>
        </p:nvSpPr>
        <p:spPr>
          <a:xfrm>
            <a:off x="7799832" y="1289304"/>
            <a:ext cx="3703320" cy="256032"/>
          </a:xfrm>
          <a:prstGeom prst="rect">
            <a:avLst/>
          </a:prstGeom>
          <a:noFill/>
          <a:ln/>
        </p:spPr>
        <p:txBody>
          <a:bodyPr wrap="square" lIns="0" tIns="0" rIns="0" bIns="0" rtlCol="0" anchor="ctr"/>
          <a:lstStyle/>
          <a:p>
            <a:pPr marL="0" indent="0">
              <a:buNone/>
            </a:pPr>
            <a:r>
              <a:rPr lang="en-US" sz="1550" b="1" dirty="0">
                <a:solidFill>
                  <a:srgbClr val="10233D"/>
                </a:solidFill>
                <a:latin typeface="Georgia" panose="02040502050405020303" pitchFamily="18" charset="0"/>
              </a:rPr>
              <a:t>Key structural</a:t>
            </a:r>
            <a:endParaRPr lang="en-US" sz="1550" dirty="0">
              <a:latin typeface="Georgia" panose="02040502050405020303" pitchFamily="18" charset="0"/>
            </a:endParaRPr>
          </a:p>
        </p:txBody>
      </p:sp>
      <p:sp>
        <p:nvSpPr>
          <p:cNvPr id="24" name="Text 22"/>
          <p:cNvSpPr/>
          <p:nvPr/>
        </p:nvSpPr>
        <p:spPr>
          <a:xfrm>
            <a:off x="7799832" y="1645920"/>
            <a:ext cx="3685032" cy="1216152"/>
          </a:xfrm>
          <a:prstGeom prst="rect">
            <a:avLst/>
          </a:prstGeom>
          <a:noFill/>
          <a:ln/>
        </p:spPr>
        <p:txBody>
          <a:bodyPr wrap="square" lIns="508" tIns="508" rIns="508" bIns="508" rtlCol="0" anchor="t">
            <a:normAutofit/>
          </a:bodyPr>
          <a:lstStyle/>
          <a:p>
            <a:pPr marL="177800" indent="-177800">
              <a:buSzPct val="100000"/>
              <a:buChar char="•"/>
            </a:pPr>
            <a:r>
              <a:rPr lang="en-US" sz="1300" dirty="0">
                <a:solidFill>
                  <a:srgbClr val="374151"/>
                </a:solidFill>
                <a:latin typeface="Georgia" panose="02040502050405020303" pitchFamily="18" charset="0"/>
              </a:rPr>
              <a:t>The competition runs generation first and detection second.</a:t>
            </a:r>
          </a:p>
          <a:p>
            <a:pPr marL="177800" indent="-177800">
              <a:buSzPct val="100000"/>
              <a:buChar char="•"/>
            </a:pPr>
            <a:endParaRPr lang="en-US" sz="1300" dirty="0">
              <a:latin typeface="Georgia" panose="02040502050405020303" pitchFamily="18" charset="0"/>
            </a:endParaRPr>
          </a:p>
          <a:p>
            <a:pPr marL="177800" indent="-177800">
              <a:buSzPct val="100000"/>
              <a:buChar char="•"/>
            </a:pPr>
            <a:r>
              <a:rPr lang="en-US" sz="1300" dirty="0">
                <a:solidFill>
                  <a:srgbClr val="374151"/>
                </a:solidFill>
                <a:latin typeface="Georgia" panose="02040502050405020303" pitchFamily="18" charset="0"/>
              </a:rPr>
              <a:t>Results from one subtask are used in evaluating the other.</a:t>
            </a:r>
            <a:endParaRPr lang="en-US" sz="1300" dirty="0">
              <a:latin typeface="Georgia" panose="02040502050405020303" pitchFamily="18" charset="0"/>
            </a:endParaRPr>
          </a:p>
        </p:txBody>
      </p:sp>
      <p:sp>
        <p:nvSpPr>
          <p:cNvPr id="25" name="Shape 23"/>
          <p:cNvSpPr/>
          <p:nvPr/>
        </p:nvSpPr>
        <p:spPr>
          <a:xfrm>
            <a:off x="7635240" y="3154680"/>
            <a:ext cx="3977640" cy="2468880"/>
          </a:xfrm>
          <a:prstGeom prst="roundRect">
            <a:avLst>
              <a:gd name="adj" fmla="val 2963"/>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26" name="Shape 24"/>
          <p:cNvSpPr/>
          <p:nvPr/>
        </p:nvSpPr>
        <p:spPr>
          <a:xfrm>
            <a:off x="7635240" y="3154680"/>
            <a:ext cx="73152" cy="2468880"/>
          </a:xfrm>
          <a:prstGeom prst="rect">
            <a:avLst/>
          </a:prstGeom>
          <a:solidFill>
            <a:srgbClr val="0EA5E9"/>
          </a:solidFill>
          <a:ln w="12700">
            <a:solidFill>
              <a:srgbClr val="0EA5E9"/>
            </a:solidFill>
            <a:prstDash val="solid"/>
          </a:ln>
        </p:spPr>
      </p:sp>
      <p:sp>
        <p:nvSpPr>
          <p:cNvPr id="27" name="Text 25"/>
          <p:cNvSpPr/>
          <p:nvPr/>
        </p:nvSpPr>
        <p:spPr>
          <a:xfrm>
            <a:off x="7799832" y="3300984"/>
            <a:ext cx="3703320" cy="256032"/>
          </a:xfrm>
          <a:prstGeom prst="rect">
            <a:avLst/>
          </a:prstGeom>
          <a:noFill/>
          <a:ln/>
        </p:spPr>
        <p:txBody>
          <a:bodyPr wrap="square" lIns="0" tIns="0" rIns="0" bIns="0" rtlCol="0" anchor="ctr"/>
          <a:lstStyle/>
          <a:p>
            <a:pPr marL="0" indent="0">
              <a:buNone/>
            </a:pPr>
            <a:r>
              <a:rPr lang="en-US" sz="1550" b="1" dirty="0">
                <a:solidFill>
                  <a:srgbClr val="10233D"/>
                </a:solidFill>
                <a:latin typeface="Georgia" panose="02040502050405020303" pitchFamily="18" charset="0"/>
              </a:rPr>
              <a:t>Practical implication</a:t>
            </a:r>
            <a:endParaRPr lang="en-US" sz="1550" dirty="0">
              <a:latin typeface="Georgia" panose="02040502050405020303" pitchFamily="18" charset="0"/>
            </a:endParaRPr>
          </a:p>
        </p:txBody>
      </p:sp>
      <p:sp>
        <p:nvSpPr>
          <p:cNvPr id="28" name="Text 26"/>
          <p:cNvSpPr/>
          <p:nvPr/>
        </p:nvSpPr>
        <p:spPr>
          <a:xfrm>
            <a:off x="7799832" y="3657600"/>
            <a:ext cx="3685032" cy="1810512"/>
          </a:xfrm>
          <a:prstGeom prst="rect">
            <a:avLst/>
          </a:prstGeom>
          <a:noFill/>
          <a:ln/>
        </p:spPr>
        <p:txBody>
          <a:bodyPr wrap="square" lIns="508" tIns="508" rIns="508" bIns="508" rtlCol="0" anchor="t">
            <a:normAutofit/>
          </a:bodyPr>
          <a:lstStyle/>
          <a:p>
            <a:pPr marL="177800" indent="-177800">
              <a:buSzPct val="100000"/>
              <a:buChar char="•"/>
            </a:pPr>
            <a:r>
              <a:rPr lang="en-US" sz="1300" dirty="0">
                <a:solidFill>
                  <a:srgbClr val="374151"/>
                </a:solidFill>
                <a:latin typeface="Georgia" panose="02040502050405020303" pitchFamily="18" charset="0"/>
              </a:rPr>
              <a:t>It rewards realism, constraint satisfaction, and cross-method robustness.</a:t>
            </a:r>
          </a:p>
          <a:p>
            <a:pPr marL="177800" indent="-177800">
              <a:buSzPct val="100000"/>
              <a:buChar char="•"/>
            </a:pPr>
            <a:endParaRPr lang="en-US" sz="1300" dirty="0">
              <a:latin typeface="Georgia" panose="02040502050405020303" pitchFamily="18" charset="0"/>
            </a:endParaRPr>
          </a:p>
          <a:p>
            <a:pPr marL="177800" indent="-177800">
              <a:buSzPct val="100000"/>
              <a:buChar char="•"/>
            </a:pPr>
            <a:r>
              <a:rPr lang="en-US" sz="1300" dirty="0">
                <a:solidFill>
                  <a:srgbClr val="374151"/>
                </a:solidFill>
                <a:latin typeface="Georgia" panose="02040502050405020303" pitchFamily="18" charset="0"/>
              </a:rPr>
              <a:t>A strong team should think adversarially: generator and detector can improve each other.</a:t>
            </a:r>
            <a:endParaRPr lang="en-US" sz="1300" dirty="0">
              <a:latin typeface="Georgia" panose="02040502050405020303" pitchFamily="18" charset="0"/>
            </a:endParaRPr>
          </a:p>
        </p:txBody>
      </p:sp>
      <p:sp>
        <p:nvSpPr>
          <p:cNvPr id="29" name="Text 27"/>
          <p:cNvSpPr/>
          <p:nvPr/>
        </p:nvSpPr>
        <p:spPr>
          <a:xfrm>
            <a:off x="11612880" y="6574536"/>
            <a:ext cx="274320" cy="146304"/>
          </a:xfrm>
          <a:prstGeom prst="rect">
            <a:avLst/>
          </a:prstGeom>
          <a:noFill/>
          <a:ln/>
        </p:spPr>
        <p:txBody>
          <a:bodyPr wrap="square" lIns="0" tIns="0" rIns="0" bIns="0" rtlCol="0" anchor="ctr"/>
          <a:lstStyle/>
          <a:p>
            <a:pPr marL="0" indent="0" algn="r">
              <a:buNone/>
            </a:pPr>
            <a:r>
              <a:rPr lang="en-US" sz="900" dirty="0">
                <a:solidFill>
                  <a:srgbClr val="6B7280"/>
                </a:solidFill>
              </a:rPr>
              <a:t>2</a:t>
            </a:r>
            <a:endParaRPr lang="en-US" sz="900" dirty="0"/>
          </a:p>
        </p:txBody>
      </p:sp>
      <p:sp>
        <p:nvSpPr>
          <p:cNvPr id="30" name="Shape 10">
            <a:extLst>
              <a:ext uri="{FF2B5EF4-FFF2-40B4-BE49-F238E27FC236}">
                <a16:creationId xmlns:a16="http://schemas.microsoft.com/office/drawing/2014/main" id="{B75E162A-D673-98F0-935D-42E2D19E1AEF}"/>
              </a:ext>
            </a:extLst>
          </p:cNvPr>
          <p:cNvSpPr/>
          <p:nvPr/>
        </p:nvSpPr>
        <p:spPr>
          <a:xfrm>
            <a:off x="868680" y="5852159"/>
            <a:ext cx="10469880" cy="402336"/>
          </a:xfrm>
          <a:prstGeom prst="roundRect">
            <a:avLst>
              <a:gd name="adj" fmla="val 13636"/>
            </a:avLst>
          </a:prstGeom>
          <a:solidFill>
            <a:srgbClr val="EDF6FF"/>
          </a:solidFill>
          <a:ln w="12700">
            <a:solidFill>
              <a:srgbClr val="EDF6FF"/>
            </a:solidFill>
            <a:prstDash val="solid"/>
          </a:ln>
        </p:spPr>
      </p:sp>
      <p:sp>
        <p:nvSpPr>
          <p:cNvPr id="31" name="Text 11">
            <a:extLst>
              <a:ext uri="{FF2B5EF4-FFF2-40B4-BE49-F238E27FC236}">
                <a16:creationId xmlns:a16="http://schemas.microsoft.com/office/drawing/2014/main" id="{28CC7643-207D-9F1E-774C-96AC5888FC1D}"/>
              </a:ext>
            </a:extLst>
          </p:cNvPr>
          <p:cNvSpPr/>
          <p:nvPr/>
        </p:nvSpPr>
        <p:spPr>
          <a:xfrm>
            <a:off x="937260" y="5897879"/>
            <a:ext cx="10058400" cy="384048"/>
          </a:xfrm>
          <a:prstGeom prst="rect">
            <a:avLst/>
          </a:prstGeom>
          <a:noFill/>
          <a:ln/>
        </p:spPr>
        <p:txBody>
          <a:bodyPr wrap="square" lIns="0" tIns="0" rIns="0" bIns="0" rtlCol="0" anchor="ctr">
            <a:noAutofit/>
          </a:bodyPr>
          <a:lstStyle/>
          <a:p>
            <a:pPr marL="0" indent="0" algn="ctr">
              <a:buNone/>
            </a:pPr>
            <a:r>
              <a:rPr lang="en-US" sz="1400" b="1" dirty="0">
                <a:latin typeface="Georgia" panose="02040502050405020303" pitchFamily="18" charset="0"/>
              </a:rPr>
              <a:t>Constraints: </a:t>
            </a:r>
            <a:r>
              <a:rPr lang="en-US" sz="1400" dirty="0">
                <a:solidFill>
                  <a:srgbClr val="2E6BB0"/>
                </a:solidFill>
                <a:latin typeface="Georgia" panose="02040502050405020303" pitchFamily="18" charset="0"/>
              </a:rPr>
              <a:t>quality check, identity similarity requirements, preservation of key features (facial landmarks in images), a text prompt that must be spoken in the audio sequence  </a:t>
            </a:r>
            <a:endParaRPr lang="en-US" sz="1400" dirty="0">
              <a:latin typeface="Georgia" panose="02040502050405020303"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10896"/>
            <a:ext cx="7863840" cy="411480"/>
          </a:xfrm>
          <a:prstGeom prst="rect">
            <a:avLst/>
          </a:prstGeom>
          <a:noFill/>
          <a:ln/>
        </p:spPr>
        <p:txBody>
          <a:bodyPr wrap="square" lIns="0" tIns="0" rIns="0" bIns="0" rtlCol="0" anchor="ctr"/>
          <a:lstStyle/>
          <a:p>
            <a:pPr marL="0" indent="0">
              <a:buNone/>
            </a:pPr>
            <a:r>
              <a:rPr lang="en-US" sz="2300" b="1" dirty="0">
                <a:solidFill>
                  <a:srgbClr val="10233D"/>
                </a:solidFill>
                <a:latin typeface="Georgia" panose="02040502050405020303" pitchFamily="18" charset="0"/>
                <a:ea typeface="Aptos Display" pitchFamily="34" charset="-122"/>
                <a:cs typeface="Aptos Display" pitchFamily="34" charset="-120"/>
              </a:rPr>
              <a:t>Competition critical issues</a:t>
            </a:r>
            <a:endParaRPr lang="en-US" sz="2300" dirty="0">
              <a:latin typeface="Georgia" panose="02040502050405020303" pitchFamily="18" charset="0"/>
            </a:endParaRPr>
          </a:p>
        </p:txBody>
      </p:sp>
      <p:sp>
        <p:nvSpPr>
          <p:cNvPr id="3" name="Text 1"/>
          <p:cNvSpPr/>
          <p:nvPr/>
        </p:nvSpPr>
        <p:spPr>
          <a:xfrm>
            <a:off x="512064" y="749808"/>
            <a:ext cx="7498080" cy="210312"/>
          </a:xfrm>
          <a:prstGeom prst="rect">
            <a:avLst/>
          </a:prstGeom>
          <a:noFill/>
          <a:ln/>
        </p:spPr>
        <p:txBody>
          <a:bodyPr wrap="square" lIns="0" tIns="0" rIns="0" bIns="0" rtlCol="0" anchor="ctr"/>
          <a:lstStyle/>
          <a:p>
            <a:pPr marL="0" indent="0">
              <a:buNone/>
            </a:pPr>
            <a:r>
              <a:rPr lang="en-US" sz="1300" dirty="0">
                <a:solidFill>
                  <a:srgbClr val="4B5563"/>
                </a:solidFill>
                <a:latin typeface="Georgia" panose="02040502050405020303" pitchFamily="18" charset="0"/>
              </a:rPr>
              <a:t>The challenge is engineered around generalization</a:t>
            </a:r>
            <a:endParaRPr lang="en-US" sz="1300" dirty="0">
              <a:latin typeface="Georgia" panose="02040502050405020303" pitchFamily="18" charset="0"/>
            </a:endParaRPr>
          </a:p>
        </p:txBody>
      </p:sp>
      <p:sp>
        <p:nvSpPr>
          <p:cNvPr id="4" name="Shape 2"/>
          <p:cNvSpPr/>
          <p:nvPr/>
        </p:nvSpPr>
        <p:spPr>
          <a:xfrm>
            <a:off x="640080" y="1188720"/>
            <a:ext cx="2743200" cy="1874520"/>
          </a:xfrm>
          <a:prstGeom prst="roundRect">
            <a:avLst>
              <a:gd name="adj" fmla="val 3902"/>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5" name="Shape 3"/>
          <p:cNvSpPr/>
          <p:nvPr/>
        </p:nvSpPr>
        <p:spPr>
          <a:xfrm>
            <a:off x="640080" y="1188720"/>
            <a:ext cx="73152" cy="1874520"/>
          </a:xfrm>
          <a:prstGeom prst="rect">
            <a:avLst/>
          </a:prstGeom>
          <a:solidFill>
            <a:srgbClr val="5FA4E8"/>
          </a:solidFill>
          <a:ln w="12700">
            <a:solidFill>
              <a:srgbClr val="5FA4E8"/>
            </a:solidFill>
            <a:prstDash val="solid"/>
          </a:ln>
        </p:spPr>
      </p:sp>
      <p:sp>
        <p:nvSpPr>
          <p:cNvPr id="6" name="Text 4"/>
          <p:cNvSpPr/>
          <p:nvPr/>
        </p:nvSpPr>
        <p:spPr>
          <a:xfrm>
            <a:off x="804672" y="1335024"/>
            <a:ext cx="2468880" cy="256032"/>
          </a:xfrm>
          <a:prstGeom prst="rect">
            <a:avLst/>
          </a:prstGeom>
          <a:noFill/>
          <a:ln/>
        </p:spPr>
        <p:txBody>
          <a:bodyPr wrap="square" lIns="0" tIns="0" rIns="0" bIns="0" rtlCol="0" anchor="ctr"/>
          <a:lstStyle/>
          <a:p>
            <a:pPr marL="0" indent="0">
              <a:buNone/>
            </a:pPr>
            <a:r>
              <a:rPr lang="en-US" sz="1350" b="1" dirty="0">
                <a:solidFill>
                  <a:srgbClr val="10233D"/>
                </a:solidFill>
                <a:latin typeface="Georgia" panose="02040502050405020303" pitchFamily="18" charset="0"/>
              </a:rPr>
              <a:t>1. No organizer training set</a:t>
            </a:r>
            <a:endParaRPr lang="en-US" sz="1350" dirty="0">
              <a:latin typeface="Georgia" panose="02040502050405020303" pitchFamily="18" charset="0"/>
            </a:endParaRPr>
          </a:p>
        </p:txBody>
      </p:sp>
      <p:sp>
        <p:nvSpPr>
          <p:cNvPr id="7" name="Text 5"/>
          <p:cNvSpPr/>
          <p:nvPr/>
        </p:nvSpPr>
        <p:spPr>
          <a:xfrm>
            <a:off x="804672" y="1691640"/>
            <a:ext cx="2450592" cy="1216152"/>
          </a:xfrm>
          <a:prstGeom prst="rect">
            <a:avLst/>
          </a:prstGeom>
          <a:noFill/>
          <a:ln/>
        </p:spPr>
        <p:txBody>
          <a:bodyPr wrap="square" lIns="508" tIns="508" rIns="508" bIns="508" rtlCol="0" anchor="t">
            <a:normAutofit/>
          </a:bodyPr>
          <a:lstStyle/>
          <a:p>
            <a:pPr marL="177800" indent="-177800" algn="just">
              <a:buSzPct val="100000"/>
              <a:buChar char="•"/>
            </a:pPr>
            <a:r>
              <a:rPr lang="en-US" sz="1300" dirty="0">
                <a:solidFill>
                  <a:srgbClr val="374151"/>
                </a:solidFill>
                <a:latin typeface="Georgia" panose="02040502050405020303" pitchFamily="18" charset="0"/>
              </a:rPr>
              <a:t>Teams must rely on public data and their own curation pipeline.</a:t>
            </a:r>
          </a:p>
          <a:p>
            <a:pPr marL="177800" indent="-177800" algn="just">
              <a:buSzPct val="100000"/>
              <a:buChar char="•"/>
            </a:pPr>
            <a:endParaRPr lang="en-US" sz="1300" dirty="0">
              <a:latin typeface="Georgia" panose="02040502050405020303" pitchFamily="18" charset="0"/>
            </a:endParaRPr>
          </a:p>
          <a:p>
            <a:pPr marL="177800" indent="-177800" algn="just">
              <a:buSzPct val="100000"/>
              <a:buChar char="•"/>
            </a:pPr>
            <a:r>
              <a:rPr lang="en-US" sz="1300" dirty="0">
                <a:solidFill>
                  <a:srgbClr val="374151"/>
                </a:solidFill>
                <a:latin typeface="Georgia" panose="02040502050405020303" pitchFamily="18" charset="0"/>
              </a:rPr>
              <a:t>Data selection becomes part of the method, not a side task.</a:t>
            </a:r>
            <a:endParaRPr lang="en-US" sz="1300" dirty="0">
              <a:latin typeface="Georgia" panose="02040502050405020303" pitchFamily="18" charset="0"/>
            </a:endParaRPr>
          </a:p>
        </p:txBody>
      </p:sp>
      <p:sp>
        <p:nvSpPr>
          <p:cNvPr id="8" name="Shape 6"/>
          <p:cNvSpPr/>
          <p:nvPr/>
        </p:nvSpPr>
        <p:spPr>
          <a:xfrm>
            <a:off x="3611880" y="1188720"/>
            <a:ext cx="2743200" cy="1874520"/>
          </a:xfrm>
          <a:prstGeom prst="roundRect">
            <a:avLst>
              <a:gd name="adj" fmla="val 3902"/>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9" name="Shape 7"/>
          <p:cNvSpPr/>
          <p:nvPr/>
        </p:nvSpPr>
        <p:spPr>
          <a:xfrm>
            <a:off x="3611880" y="1188720"/>
            <a:ext cx="73152" cy="1874520"/>
          </a:xfrm>
          <a:prstGeom prst="rect">
            <a:avLst/>
          </a:prstGeom>
          <a:solidFill>
            <a:srgbClr val="E85D75"/>
          </a:solidFill>
          <a:ln w="12700">
            <a:solidFill>
              <a:srgbClr val="E85D75"/>
            </a:solidFill>
            <a:prstDash val="solid"/>
          </a:ln>
        </p:spPr>
      </p:sp>
      <p:sp>
        <p:nvSpPr>
          <p:cNvPr id="10" name="Text 8"/>
          <p:cNvSpPr/>
          <p:nvPr/>
        </p:nvSpPr>
        <p:spPr>
          <a:xfrm>
            <a:off x="3776472" y="1225296"/>
            <a:ext cx="2578608" cy="365760"/>
          </a:xfrm>
          <a:prstGeom prst="rect">
            <a:avLst/>
          </a:prstGeom>
          <a:noFill/>
          <a:ln/>
        </p:spPr>
        <p:txBody>
          <a:bodyPr wrap="square" lIns="0" tIns="0" rIns="0" bIns="0" rtlCol="0" anchor="ctr"/>
          <a:lstStyle/>
          <a:p>
            <a:pPr marL="0" indent="0">
              <a:buNone/>
            </a:pPr>
            <a:r>
              <a:rPr lang="en-US" sz="1350" b="1" dirty="0">
                <a:solidFill>
                  <a:srgbClr val="10233D"/>
                </a:solidFill>
                <a:latin typeface="Georgia" panose="02040502050405020303" pitchFamily="18" charset="0"/>
              </a:rPr>
              <a:t>2. Unseen generators matter</a:t>
            </a:r>
            <a:endParaRPr lang="en-US" sz="1350" dirty="0">
              <a:latin typeface="Georgia" panose="02040502050405020303" pitchFamily="18" charset="0"/>
            </a:endParaRPr>
          </a:p>
        </p:txBody>
      </p:sp>
      <p:sp>
        <p:nvSpPr>
          <p:cNvPr id="11" name="Text 9"/>
          <p:cNvSpPr/>
          <p:nvPr/>
        </p:nvSpPr>
        <p:spPr>
          <a:xfrm>
            <a:off x="3776472" y="1691640"/>
            <a:ext cx="2450592" cy="1216152"/>
          </a:xfrm>
          <a:prstGeom prst="rect">
            <a:avLst/>
          </a:prstGeom>
          <a:noFill/>
          <a:ln/>
        </p:spPr>
        <p:txBody>
          <a:bodyPr wrap="square" lIns="508" tIns="508" rIns="508" bIns="508" rtlCol="0" anchor="t">
            <a:normAutofit/>
          </a:bodyPr>
          <a:lstStyle/>
          <a:p>
            <a:pPr marL="177800" indent="-177800" algn="just">
              <a:buSzPct val="100000"/>
              <a:buChar char="•"/>
            </a:pPr>
            <a:r>
              <a:rPr lang="en-US" sz="1300" dirty="0">
                <a:solidFill>
                  <a:srgbClr val="374151"/>
                </a:solidFill>
                <a:latin typeface="Georgia" panose="02040502050405020303" pitchFamily="18" charset="0"/>
              </a:rPr>
              <a:t>Detection is evaluated on organizer, internet, and participant-produced deepfakes.</a:t>
            </a:r>
            <a:endParaRPr lang="en-US" sz="1300" dirty="0">
              <a:latin typeface="Georgia" panose="02040502050405020303" pitchFamily="18" charset="0"/>
            </a:endParaRPr>
          </a:p>
        </p:txBody>
      </p:sp>
      <p:sp>
        <p:nvSpPr>
          <p:cNvPr id="12" name="Shape 10"/>
          <p:cNvSpPr/>
          <p:nvPr/>
        </p:nvSpPr>
        <p:spPr>
          <a:xfrm>
            <a:off x="6583680" y="1188720"/>
            <a:ext cx="2697480" cy="1874520"/>
          </a:xfrm>
          <a:prstGeom prst="roundRect">
            <a:avLst>
              <a:gd name="adj" fmla="val 3902"/>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13" name="Shape 11"/>
          <p:cNvSpPr/>
          <p:nvPr/>
        </p:nvSpPr>
        <p:spPr>
          <a:xfrm>
            <a:off x="6583680" y="1188720"/>
            <a:ext cx="73152" cy="1874520"/>
          </a:xfrm>
          <a:prstGeom prst="rect">
            <a:avLst/>
          </a:prstGeom>
          <a:solidFill>
            <a:srgbClr val="10B981"/>
          </a:solidFill>
          <a:ln w="12700">
            <a:solidFill>
              <a:srgbClr val="10B981"/>
            </a:solidFill>
            <a:prstDash val="solid"/>
          </a:ln>
        </p:spPr>
      </p:sp>
      <p:sp>
        <p:nvSpPr>
          <p:cNvPr id="14" name="Text 12"/>
          <p:cNvSpPr/>
          <p:nvPr/>
        </p:nvSpPr>
        <p:spPr>
          <a:xfrm>
            <a:off x="6748272" y="1335024"/>
            <a:ext cx="2423160" cy="256032"/>
          </a:xfrm>
          <a:prstGeom prst="rect">
            <a:avLst/>
          </a:prstGeom>
          <a:noFill/>
          <a:ln/>
        </p:spPr>
        <p:txBody>
          <a:bodyPr wrap="square" lIns="0" tIns="0" rIns="0" bIns="0" rtlCol="0" anchor="ctr"/>
          <a:lstStyle/>
          <a:p>
            <a:pPr marL="0" indent="0">
              <a:buNone/>
            </a:pPr>
            <a:r>
              <a:rPr lang="en-US" sz="1350" b="1" dirty="0">
                <a:solidFill>
                  <a:srgbClr val="10233D"/>
                </a:solidFill>
                <a:latin typeface="Georgia" panose="02040502050405020303" pitchFamily="18" charset="0"/>
              </a:rPr>
              <a:t>3. Few-shot generation</a:t>
            </a:r>
            <a:endParaRPr lang="en-US" sz="1350" dirty="0">
              <a:latin typeface="Georgia" panose="02040502050405020303" pitchFamily="18" charset="0"/>
            </a:endParaRPr>
          </a:p>
        </p:txBody>
      </p:sp>
      <p:sp>
        <p:nvSpPr>
          <p:cNvPr id="15" name="Text 13"/>
          <p:cNvSpPr/>
          <p:nvPr/>
        </p:nvSpPr>
        <p:spPr>
          <a:xfrm>
            <a:off x="6748272" y="1691640"/>
            <a:ext cx="2404872" cy="1216152"/>
          </a:xfrm>
          <a:prstGeom prst="rect">
            <a:avLst/>
          </a:prstGeom>
          <a:noFill/>
          <a:ln/>
        </p:spPr>
        <p:txBody>
          <a:bodyPr wrap="square" lIns="508" tIns="508" rIns="508" bIns="508" rtlCol="0" anchor="t">
            <a:normAutofit/>
          </a:bodyPr>
          <a:lstStyle/>
          <a:p>
            <a:pPr marL="177800" indent="-177800" algn="just">
              <a:buSzPct val="100000"/>
              <a:buChar char="•"/>
            </a:pPr>
            <a:r>
              <a:rPr lang="en-US" sz="1300" dirty="0">
                <a:solidFill>
                  <a:srgbClr val="374151"/>
                </a:solidFill>
                <a:latin typeface="Georgia" panose="02040502050405020303" pitchFamily="18" charset="0"/>
              </a:rPr>
              <a:t>Generation gets only one reference sample per identity.</a:t>
            </a:r>
          </a:p>
          <a:p>
            <a:pPr marL="177800" indent="-177800" algn="just">
              <a:buSzPct val="100000"/>
              <a:buChar char="•"/>
            </a:pPr>
            <a:endParaRPr lang="en-US" sz="1300" dirty="0">
              <a:latin typeface="Georgia" panose="02040502050405020303" pitchFamily="18" charset="0"/>
            </a:endParaRPr>
          </a:p>
          <a:p>
            <a:pPr marL="177800" indent="-177800" algn="just">
              <a:buSzPct val="100000"/>
              <a:buChar char="•"/>
            </a:pPr>
            <a:r>
              <a:rPr lang="en-US" sz="1300" dirty="0">
                <a:solidFill>
                  <a:srgbClr val="374151"/>
                </a:solidFill>
                <a:latin typeface="Georgia" panose="02040502050405020303" pitchFamily="18" charset="0"/>
              </a:rPr>
              <a:t>Identity preservation and constraint control are central.</a:t>
            </a:r>
            <a:endParaRPr lang="en-US" sz="1300" dirty="0">
              <a:latin typeface="Georgia" panose="02040502050405020303" pitchFamily="18" charset="0"/>
            </a:endParaRPr>
          </a:p>
        </p:txBody>
      </p:sp>
      <p:sp>
        <p:nvSpPr>
          <p:cNvPr id="16" name="Shape 14"/>
          <p:cNvSpPr/>
          <p:nvPr/>
        </p:nvSpPr>
        <p:spPr>
          <a:xfrm>
            <a:off x="9509760" y="1188720"/>
            <a:ext cx="2011680" cy="1874520"/>
          </a:xfrm>
          <a:prstGeom prst="roundRect">
            <a:avLst>
              <a:gd name="adj" fmla="val 3902"/>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17" name="Shape 15"/>
          <p:cNvSpPr/>
          <p:nvPr/>
        </p:nvSpPr>
        <p:spPr>
          <a:xfrm>
            <a:off x="9509760" y="1188720"/>
            <a:ext cx="73152" cy="1874520"/>
          </a:xfrm>
          <a:prstGeom prst="rect">
            <a:avLst/>
          </a:prstGeom>
          <a:solidFill>
            <a:srgbClr val="F59E0B"/>
          </a:solidFill>
          <a:ln w="12700">
            <a:solidFill>
              <a:srgbClr val="F59E0B"/>
            </a:solidFill>
            <a:prstDash val="solid"/>
          </a:ln>
        </p:spPr>
      </p:sp>
      <p:sp>
        <p:nvSpPr>
          <p:cNvPr id="18" name="Text 16"/>
          <p:cNvSpPr/>
          <p:nvPr/>
        </p:nvSpPr>
        <p:spPr>
          <a:xfrm>
            <a:off x="9674352" y="1335024"/>
            <a:ext cx="1737360" cy="256032"/>
          </a:xfrm>
          <a:prstGeom prst="rect">
            <a:avLst/>
          </a:prstGeom>
          <a:noFill/>
          <a:ln/>
        </p:spPr>
        <p:txBody>
          <a:bodyPr wrap="square" lIns="0" tIns="0" rIns="0" bIns="0" rtlCol="0" anchor="ctr"/>
          <a:lstStyle/>
          <a:p>
            <a:pPr marL="0" indent="0">
              <a:buNone/>
            </a:pPr>
            <a:r>
              <a:rPr lang="en-US" sz="1350" b="1" dirty="0">
                <a:solidFill>
                  <a:srgbClr val="10233D"/>
                </a:solidFill>
                <a:latin typeface="Georgia" panose="02040502050405020303" pitchFamily="18" charset="0"/>
              </a:rPr>
              <a:t>4. Multimodal</a:t>
            </a:r>
            <a:endParaRPr lang="en-US" sz="1350" dirty="0">
              <a:latin typeface="Georgia" panose="02040502050405020303" pitchFamily="18" charset="0"/>
            </a:endParaRPr>
          </a:p>
        </p:txBody>
      </p:sp>
      <p:sp>
        <p:nvSpPr>
          <p:cNvPr id="19" name="Text 17"/>
          <p:cNvSpPr/>
          <p:nvPr/>
        </p:nvSpPr>
        <p:spPr>
          <a:xfrm>
            <a:off x="9674352" y="1691640"/>
            <a:ext cx="1719072" cy="1371600"/>
          </a:xfrm>
          <a:prstGeom prst="rect">
            <a:avLst/>
          </a:prstGeom>
          <a:noFill/>
          <a:ln/>
        </p:spPr>
        <p:txBody>
          <a:bodyPr wrap="square" lIns="508" tIns="508" rIns="508" bIns="508" rtlCol="0" anchor="t">
            <a:noAutofit/>
          </a:bodyPr>
          <a:lstStyle/>
          <a:p>
            <a:pPr marL="177800" indent="-177800" algn="just">
              <a:buSzPct val="100000"/>
              <a:buChar char="•"/>
            </a:pPr>
            <a:r>
              <a:rPr lang="en-US" sz="1300" dirty="0">
                <a:solidFill>
                  <a:srgbClr val="374151"/>
                </a:solidFill>
                <a:latin typeface="Georgia" panose="02040502050405020303" pitchFamily="18" charset="0"/>
              </a:rPr>
              <a:t>Image and audio need different pipelines and validation.</a:t>
            </a:r>
            <a:endParaRPr lang="en-US" sz="1300" dirty="0">
              <a:latin typeface="Georgia" panose="02040502050405020303" pitchFamily="18" charset="0"/>
            </a:endParaRPr>
          </a:p>
          <a:p>
            <a:pPr marL="177800" indent="-177800" algn="just">
              <a:buSzPct val="100000"/>
              <a:buChar char="•"/>
            </a:pPr>
            <a:r>
              <a:rPr lang="en-US" sz="1300" dirty="0">
                <a:solidFill>
                  <a:srgbClr val="374151"/>
                </a:solidFill>
                <a:latin typeface="Georgia" panose="02040502050405020303" pitchFamily="18" charset="0"/>
              </a:rPr>
              <a:t>One team can enter one or both modalities.</a:t>
            </a:r>
            <a:endParaRPr lang="en-US" sz="1300" dirty="0">
              <a:latin typeface="Georgia" panose="02040502050405020303" pitchFamily="18" charset="0"/>
            </a:endParaRPr>
          </a:p>
        </p:txBody>
      </p:sp>
      <p:sp>
        <p:nvSpPr>
          <p:cNvPr id="20" name="Shape 18"/>
          <p:cNvSpPr/>
          <p:nvPr/>
        </p:nvSpPr>
        <p:spPr>
          <a:xfrm>
            <a:off x="640080" y="3429000"/>
            <a:ext cx="5623560" cy="1828800"/>
          </a:xfrm>
          <a:prstGeom prst="roundRect">
            <a:avLst>
              <a:gd name="adj" fmla="val 4000"/>
            </a:avLst>
          </a:prstGeom>
          <a:solidFill>
            <a:srgbClr val="10233D"/>
          </a:solidFill>
          <a:ln w="12700">
            <a:solidFill>
              <a:srgbClr val="10233D"/>
            </a:solidFill>
            <a:prstDash val="solid"/>
          </a:ln>
        </p:spPr>
      </p:sp>
      <p:sp>
        <p:nvSpPr>
          <p:cNvPr id="21" name="Text 19"/>
          <p:cNvSpPr/>
          <p:nvPr/>
        </p:nvSpPr>
        <p:spPr>
          <a:xfrm>
            <a:off x="896111" y="3675888"/>
            <a:ext cx="3826013" cy="301752"/>
          </a:xfrm>
          <a:prstGeom prst="rect">
            <a:avLst/>
          </a:prstGeom>
          <a:noFill/>
          <a:ln/>
        </p:spPr>
        <p:txBody>
          <a:bodyPr wrap="square" lIns="0" tIns="0" rIns="0" bIns="0" rtlCol="0" anchor="ctr"/>
          <a:lstStyle/>
          <a:p>
            <a:pPr marL="0" indent="0">
              <a:buNone/>
            </a:pPr>
            <a:r>
              <a:rPr lang="en-US" sz="1800" b="1" dirty="0">
                <a:solidFill>
                  <a:srgbClr val="FFFFFF"/>
                </a:solidFill>
                <a:latin typeface="Georgia" panose="02040502050405020303" pitchFamily="18" charset="0"/>
              </a:rPr>
              <a:t>Strategic </a:t>
            </a:r>
            <a:r>
              <a:rPr lang="en-US" b="1" dirty="0">
                <a:solidFill>
                  <a:srgbClr val="FFFFFF"/>
                </a:solidFill>
                <a:latin typeface="Georgia" panose="02040502050405020303" pitchFamily="18" charset="0"/>
              </a:rPr>
              <a:t>View</a:t>
            </a:r>
            <a:endParaRPr lang="en-US" sz="1800" dirty="0">
              <a:latin typeface="Georgia" panose="02040502050405020303" pitchFamily="18" charset="0"/>
            </a:endParaRPr>
          </a:p>
        </p:txBody>
      </p:sp>
      <p:sp>
        <p:nvSpPr>
          <p:cNvPr id="22" name="Text 20"/>
          <p:cNvSpPr/>
          <p:nvPr/>
        </p:nvSpPr>
        <p:spPr>
          <a:xfrm>
            <a:off x="896112" y="4041648"/>
            <a:ext cx="5330952" cy="868680"/>
          </a:xfrm>
          <a:prstGeom prst="rect">
            <a:avLst/>
          </a:prstGeom>
          <a:noFill/>
          <a:ln/>
        </p:spPr>
        <p:txBody>
          <a:bodyPr wrap="square" lIns="0" tIns="0" rIns="0" bIns="0" rtlCol="0" anchor="ctr">
            <a:normAutofit/>
          </a:bodyPr>
          <a:lstStyle/>
          <a:p>
            <a:pPr marL="0" indent="0">
              <a:buNone/>
            </a:pPr>
            <a:r>
              <a:rPr lang="en-US" sz="1500" dirty="0">
                <a:solidFill>
                  <a:srgbClr val="FFFFFF"/>
                </a:solidFill>
                <a:latin typeface="Georgia" panose="02040502050405020303" pitchFamily="18" charset="0"/>
              </a:rPr>
              <a:t>The safest high-performance plan is to optimize for </a:t>
            </a:r>
            <a:r>
              <a:rPr lang="en-US" sz="1500" b="1" dirty="0">
                <a:solidFill>
                  <a:srgbClr val="B8E1FF"/>
                </a:solidFill>
                <a:latin typeface="Georgia" panose="02040502050405020303" pitchFamily="18" charset="0"/>
              </a:rPr>
              <a:t>cross-dataset robustness</a:t>
            </a:r>
            <a:r>
              <a:rPr lang="en-US" sz="1500" dirty="0">
                <a:solidFill>
                  <a:srgbClr val="FFFFFF"/>
                </a:solidFill>
                <a:latin typeface="Georgia" panose="02040502050405020303" pitchFamily="18" charset="0"/>
              </a:rPr>
              <a:t>, calibration, and failure detection - not just leaderboard chasing on a narrow validation split.</a:t>
            </a:r>
            <a:endParaRPr lang="en-US" sz="1500" dirty="0">
              <a:latin typeface="Georgia" panose="02040502050405020303" pitchFamily="18" charset="0"/>
            </a:endParaRPr>
          </a:p>
        </p:txBody>
      </p:sp>
      <p:sp>
        <p:nvSpPr>
          <p:cNvPr id="23" name="Shape 21"/>
          <p:cNvSpPr/>
          <p:nvPr/>
        </p:nvSpPr>
        <p:spPr>
          <a:xfrm>
            <a:off x="6537960" y="3429000"/>
            <a:ext cx="5074920" cy="1828800"/>
          </a:xfrm>
          <a:prstGeom prst="roundRect">
            <a:avLst>
              <a:gd name="adj" fmla="val 4000"/>
            </a:avLst>
          </a:prstGeom>
          <a:solidFill>
            <a:srgbClr val="FFFFFF"/>
          </a:solidFill>
          <a:ln w="12700">
            <a:solidFill>
              <a:srgbClr val="E5E7EB"/>
            </a:solidFill>
            <a:prstDash val="solid"/>
          </a:ln>
          <a:effectLst>
            <a:outerShdw blurRad="12700" dist="3810" dir="2700000" algn="bl" rotWithShape="0">
              <a:srgbClr val="000000">
                <a:alpha val="8000"/>
              </a:srgbClr>
            </a:outerShdw>
          </a:effectLst>
        </p:spPr>
      </p:sp>
      <p:sp>
        <p:nvSpPr>
          <p:cNvPr id="24" name="Text 22"/>
          <p:cNvSpPr/>
          <p:nvPr/>
        </p:nvSpPr>
        <p:spPr>
          <a:xfrm>
            <a:off x="6784848" y="3675888"/>
            <a:ext cx="2286000" cy="201168"/>
          </a:xfrm>
          <a:prstGeom prst="rect">
            <a:avLst/>
          </a:prstGeom>
          <a:noFill/>
          <a:ln/>
        </p:spPr>
        <p:txBody>
          <a:bodyPr wrap="square" lIns="0" tIns="0" rIns="0" bIns="0" rtlCol="0" anchor="ctr"/>
          <a:lstStyle/>
          <a:p>
            <a:pPr marL="0" indent="0">
              <a:buNone/>
            </a:pPr>
            <a:r>
              <a:rPr lang="en-US" sz="1650" b="1" dirty="0">
                <a:solidFill>
                  <a:srgbClr val="10233D"/>
                </a:solidFill>
                <a:latin typeface="Georgia" panose="02040502050405020303" pitchFamily="18" charset="0"/>
              </a:rPr>
              <a:t>Consideration Points</a:t>
            </a:r>
            <a:endParaRPr lang="en-US" sz="1650" dirty="0">
              <a:latin typeface="Georgia" panose="02040502050405020303" pitchFamily="18" charset="0"/>
            </a:endParaRPr>
          </a:p>
        </p:txBody>
      </p:sp>
      <p:sp>
        <p:nvSpPr>
          <p:cNvPr id="25" name="Text 23"/>
          <p:cNvSpPr/>
          <p:nvPr/>
        </p:nvSpPr>
        <p:spPr>
          <a:xfrm>
            <a:off x="6784848" y="3977640"/>
            <a:ext cx="4480560" cy="1005840"/>
          </a:xfrm>
          <a:prstGeom prst="rect">
            <a:avLst/>
          </a:prstGeom>
          <a:noFill/>
          <a:ln/>
        </p:spPr>
        <p:txBody>
          <a:bodyPr wrap="square" lIns="254" tIns="254" rIns="254" bIns="254" rtlCol="0" anchor="ctr"/>
          <a:lstStyle/>
          <a:p>
            <a:pPr marL="152400" indent="-152400" algn="just">
              <a:buSzPct val="100000"/>
              <a:buChar char="•"/>
            </a:pPr>
            <a:r>
              <a:rPr lang="en-US" sz="1400" dirty="0">
                <a:solidFill>
                  <a:srgbClr val="374151"/>
                </a:solidFill>
                <a:latin typeface="Georgia" panose="02040502050405020303" pitchFamily="18" charset="0"/>
              </a:rPr>
              <a:t>The benchmark is difficult because deepfakes evolve quickly.</a:t>
            </a:r>
            <a:endParaRPr lang="en-US" sz="1400" dirty="0">
              <a:latin typeface="Georgia" panose="02040502050405020303" pitchFamily="18" charset="0"/>
            </a:endParaRPr>
          </a:p>
          <a:p>
            <a:pPr marL="152400" indent="-152400" algn="just">
              <a:buSzPct val="100000"/>
              <a:buChar char="•"/>
            </a:pPr>
            <a:r>
              <a:rPr lang="en-US" sz="1400" dirty="0">
                <a:solidFill>
                  <a:srgbClr val="374151"/>
                </a:solidFill>
                <a:latin typeface="Georgia" panose="02040502050405020303" pitchFamily="18" charset="0"/>
              </a:rPr>
              <a:t>The organizers deliberately avoid giving a training set.</a:t>
            </a:r>
            <a:endParaRPr lang="en-US" sz="1400" dirty="0">
              <a:latin typeface="Georgia" panose="02040502050405020303" pitchFamily="18" charset="0"/>
            </a:endParaRPr>
          </a:p>
          <a:p>
            <a:pPr marL="152400" indent="-152400" algn="just">
              <a:buSzPct val="100000"/>
              <a:buChar char="•"/>
            </a:pPr>
            <a:r>
              <a:rPr lang="en-US" sz="1400" dirty="0">
                <a:solidFill>
                  <a:srgbClr val="374151"/>
                </a:solidFill>
                <a:latin typeface="Georgia" panose="02040502050405020303" pitchFamily="18" charset="0"/>
              </a:rPr>
              <a:t>So, the real challenge is learning transferable artifacts and identity cues.</a:t>
            </a:r>
            <a:endParaRPr lang="en-US" sz="1400" dirty="0">
              <a:latin typeface="Georgia" panose="02040502050405020303" pitchFamily="18" charset="0"/>
            </a:endParaRPr>
          </a:p>
        </p:txBody>
      </p:sp>
      <p:sp>
        <p:nvSpPr>
          <p:cNvPr id="26" name="Text 24"/>
          <p:cNvSpPr/>
          <p:nvPr/>
        </p:nvSpPr>
        <p:spPr>
          <a:xfrm>
            <a:off x="11612880" y="6574536"/>
            <a:ext cx="274320" cy="146304"/>
          </a:xfrm>
          <a:prstGeom prst="rect">
            <a:avLst/>
          </a:prstGeom>
          <a:noFill/>
          <a:ln/>
        </p:spPr>
        <p:txBody>
          <a:bodyPr wrap="square" lIns="0" tIns="0" rIns="0" bIns="0" rtlCol="0" anchor="ctr"/>
          <a:lstStyle/>
          <a:p>
            <a:pPr marL="0" indent="0" algn="r">
              <a:buNone/>
            </a:pPr>
            <a:r>
              <a:rPr lang="en-US" sz="900" dirty="0">
                <a:solidFill>
                  <a:srgbClr val="6B7280"/>
                </a:solidFill>
              </a:rPr>
              <a:t>3</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10896"/>
            <a:ext cx="7863840" cy="411480"/>
          </a:xfrm>
          <a:prstGeom prst="rect">
            <a:avLst/>
          </a:prstGeom>
          <a:noFill/>
          <a:ln/>
        </p:spPr>
        <p:txBody>
          <a:bodyPr wrap="square" lIns="0" tIns="0" rIns="0" bIns="0" rtlCol="0" anchor="ctr"/>
          <a:lstStyle/>
          <a:p>
            <a:pPr marL="0" indent="0">
              <a:buNone/>
            </a:pPr>
            <a:r>
              <a:rPr lang="en-US" sz="2300" b="1" dirty="0">
                <a:solidFill>
                  <a:srgbClr val="10233D"/>
                </a:solidFill>
                <a:latin typeface="Georgia" panose="02040502050405020303" pitchFamily="18" charset="0"/>
                <a:ea typeface="Aptos Display" pitchFamily="34" charset="-122"/>
                <a:cs typeface="Aptos Display" pitchFamily="34" charset="-120"/>
              </a:rPr>
              <a:t>Schedule, registration, and deliverables</a:t>
            </a:r>
            <a:endParaRPr lang="en-US" sz="2300" dirty="0">
              <a:latin typeface="Georgia" panose="02040502050405020303" pitchFamily="18" charset="0"/>
            </a:endParaRPr>
          </a:p>
        </p:txBody>
      </p:sp>
      <p:sp>
        <p:nvSpPr>
          <p:cNvPr id="3" name="Text 1"/>
          <p:cNvSpPr/>
          <p:nvPr/>
        </p:nvSpPr>
        <p:spPr>
          <a:xfrm>
            <a:off x="512064" y="777104"/>
            <a:ext cx="7498080" cy="210312"/>
          </a:xfrm>
          <a:prstGeom prst="rect">
            <a:avLst/>
          </a:prstGeom>
          <a:noFill/>
          <a:ln/>
        </p:spPr>
        <p:txBody>
          <a:bodyPr wrap="square" lIns="0" tIns="0" rIns="0" bIns="0" rtlCol="0" anchor="ctr"/>
          <a:lstStyle/>
          <a:p>
            <a:pPr marL="0" indent="0">
              <a:buNone/>
            </a:pPr>
            <a:r>
              <a:rPr lang="en-US" sz="1600" dirty="0">
                <a:solidFill>
                  <a:srgbClr val="4B5563"/>
                </a:solidFill>
                <a:latin typeface="Georgia" panose="02040502050405020303" pitchFamily="18" charset="0"/>
              </a:rPr>
              <a:t>Time flow to be considered</a:t>
            </a:r>
            <a:endParaRPr lang="en-US" sz="1600" dirty="0">
              <a:latin typeface="Georgia" panose="02040502050405020303" pitchFamily="18" charset="0"/>
            </a:endParaRPr>
          </a:p>
        </p:txBody>
      </p:sp>
      <p:sp>
        <p:nvSpPr>
          <p:cNvPr id="4" name="Shape 2"/>
          <p:cNvSpPr/>
          <p:nvPr/>
        </p:nvSpPr>
        <p:spPr>
          <a:xfrm>
            <a:off x="868680" y="1828800"/>
            <a:ext cx="5623560" cy="0"/>
          </a:xfrm>
          <a:prstGeom prst="line">
            <a:avLst/>
          </a:prstGeom>
          <a:noFill/>
          <a:ln w="12700">
            <a:solidFill>
              <a:srgbClr val="2E6BB0"/>
            </a:solidFill>
            <a:prstDash val="solid"/>
          </a:ln>
        </p:spPr>
      </p:sp>
      <p:sp>
        <p:nvSpPr>
          <p:cNvPr id="5" name="Shape 3"/>
          <p:cNvSpPr/>
          <p:nvPr/>
        </p:nvSpPr>
        <p:spPr>
          <a:xfrm>
            <a:off x="868680" y="1664208"/>
            <a:ext cx="164592" cy="164592"/>
          </a:xfrm>
          <a:prstGeom prst="ellipse">
            <a:avLst/>
          </a:prstGeom>
          <a:solidFill>
            <a:srgbClr val="2E6BB0"/>
          </a:solidFill>
          <a:ln w="12700">
            <a:solidFill>
              <a:srgbClr val="2E6BB0"/>
            </a:solidFill>
            <a:prstDash val="solid"/>
          </a:ln>
        </p:spPr>
      </p:sp>
      <p:sp>
        <p:nvSpPr>
          <p:cNvPr id="6" name="Text 4"/>
          <p:cNvSpPr/>
          <p:nvPr/>
        </p:nvSpPr>
        <p:spPr>
          <a:xfrm>
            <a:off x="685800" y="1325880"/>
            <a:ext cx="548640" cy="164592"/>
          </a:xfrm>
          <a:prstGeom prst="rect">
            <a:avLst/>
          </a:prstGeom>
          <a:noFill/>
          <a:ln/>
        </p:spPr>
        <p:txBody>
          <a:bodyPr wrap="square" lIns="0" tIns="0" rIns="0" bIns="0" rtlCol="0" anchor="ctr"/>
          <a:lstStyle/>
          <a:p>
            <a:pPr marL="0" indent="0" algn="ctr">
              <a:buNone/>
            </a:pPr>
            <a:r>
              <a:rPr lang="en-US" sz="1200" b="1" dirty="0">
                <a:solidFill>
                  <a:srgbClr val="10233D"/>
                </a:solidFill>
              </a:rPr>
              <a:t>26 Jan</a:t>
            </a:r>
            <a:endParaRPr lang="en-US" sz="1200" dirty="0"/>
          </a:p>
        </p:txBody>
      </p:sp>
      <p:sp>
        <p:nvSpPr>
          <p:cNvPr id="7" name="Text 5"/>
          <p:cNvSpPr/>
          <p:nvPr/>
        </p:nvSpPr>
        <p:spPr>
          <a:xfrm>
            <a:off x="484632" y="1956816"/>
            <a:ext cx="914400" cy="365760"/>
          </a:xfrm>
          <a:prstGeom prst="rect">
            <a:avLst/>
          </a:prstGeom>
          <a:noFill/>
          <a:ln/>
        </p:spPr>
        <p:txBody>
          <a:bodyPr wrap="square" lIns="0" tIns="0" rIns="0" bIns="0" rtlCol="0" anchor="ctr">
            <a:normAutofit/>
          </a:bodyPr>
          <a:lstStyle/>
          <a:p>
            <a:pPr marL="0" indent="0" algn="ctr">
              <a:buNone/>
            </a:pPr>
            <a:r>
              <a:rPr lang="en-US" sz="1200" dirty="0">
                <a:solidFill>
                  <a:srgbClr val="374151"/>
                </a:solidFill>
                <a:latin typeface="Georgia" panose="02040502050405020303" pitchFamily="18" charset="0"/>
              </a:rPr>
              <a:t>Registration opens</a:t>
            </a:r>
            <a:endParaRPr lang="en-US" sz="1200" dirty="0">
              <a:latin typeface="Georgia" panose="02040502050405020303" pitchFamily="18" charset="0"/>
            </a:endParaRPr>
          </a:p>
        </p:txBody>
      </p:sp>
      <p:sp>
        <p:nvSpPr>
          <p:cNvPr id="8" name="Shape 6"/>
          <p:cNvSpPr/>
          <p:nvPr/>
        </p:nvSpPr>
        <p:spPr>
          <a:xfrm>
            <a:off x="1920240" y="1664208"/>
            <a:ext cx="164592" cy="164592"/>
          </a:xfrm>
          <a:prstGeom prst="ellipse">
            <a:avLst/>
          </a:prstGeom>
          <a:solidFill>
            <a:srgbClr val="2E6BB0"/>
          </a:solidFill>
          <a:ln w="12700">
            <a:solidFill>
              <a:srgbClr val="2E6BB0"/>
            </a:solidFill>
            <a:prstDash val="solid"/>
          </a:ln>
        </p:spPr>
      </p:sp>
      <p:sp>
        <p:nvSpPr>
          <p:cNvPr id="9" name="Text 7"/>
          <p:cNvSpPr/>
          <p:nvPr/>
        </p:nvSpPr>
        <p:spPr>
          <a:xfrm>
            <a:off x="1737360" y="1325880"/>
            <a:ext cx="548640" cy="164592"/>
          </a:xfrm>
          <a:prstGeom prst="rect">
            <a:avLst/>
          </a:prstGeom>
          <a:noFill/>
          <a:ln/>
        </p:spPr>
        <p:txBody>
          <a:bodyPr wrap="square" lIns="0" tIns="0" rIns="0" bIns="0" rtlCol="0" anchor="ctr"/>
          <a:lstStyle/>
          <a:p>
            <a:pPr marL="0" indent="0" algn="ctr">
              <a:buNone/>
            </a:pPr>
            <a:r>
              <a:rPr lang="en-US" sz="1200" b="1" dirty="0">
                <a:solidFill>
                  <a:srgbClr val="10233D"/>
                </a:solidFill>
              </a:rPr>
              <a:t>03 Mar</a:t>
            </a:r>
            <a:endParaRPr lang="en-US" sz="1200" dirty="0"/>
          </a:p>
        </p:txBody>
      </p:sp>
      <p:sp>
        <p:nvSpPr>
          <p:cNvPr id="10" name="Text 8"/>
          <p:cNvSpPr/>
          <p:nvPr/>
        </p:nvSpPr>
        <p:spPr>
          <a:xfrm>
            <a:off x="1536192" y="1956816"/>
            <a:ext cx="914400" cy="365760"/>
          </a:xfrm>
          <a:prstGeom prst="rect">
            <a:avLst/>
          </a:prstGeom>
          <a:noFill/>
          <a:ln/>
        </p:spPr>
        <p:txBody>
          <a:bodyPr wrap="square" lIns="0" tIns="0" rIns="0" bIns="0" rtlCol="0" anchor="ctr">
            <a:normAutofit/>
          </a:bodyPr>
          <a:lstStyle/>
          <a:p>
            <a:pPr marL="0" indent="0" algn="ctr">
              <a:buNone/>
            </a:pPr>
            <a:r>
              <a:rPr lang="en-US" sz="1200" dirty="0">
                <a:solidFill>
                  <a:srgbClr val="374151"/>
                </a:solidFill>
                <a:latin typeface="Georgia" panose="02040502050405020303" pitchFamily="18" charset="0"/>
              </a:rPr>
              <a:t>Generation starts</a:t>
            </a:r>
            <a:endParaRPr lang="en-US" sz="1200" dirty="0">
              <a:latin typeface="Georgia" panose="02040502050405020303" pitchFamily="18" charset="0"/>
            </a:endParaRPr>
          </a:p>
        </p:txBody>
      </p:sp>
      <p:sp>
        <p:nvSpPr>
          <p:cNvPr id="11" name="Shape 9"/>
          <p:cNvSpPr/>
          <p:nvPr/>
        </p:nvSpPr>
        <p:spPr>
          <a:xfrm>
            <a:off x="2971800" y="1664208"/>
            <a:ext cx="164592" cy="164592"/>
          </a:xfrm>
          <a:prstGeom prst="ellipse">
            <a:avLst/>
          </a:prstGeom>
          <a:solidFill>
            <a:srgbClr val="2E6BB0"/>
          </a:solidFill>
          <a:ln w="12700">
            <a:solidFill>
              <a:srgbClr val="2E6BB0"/>
            </a:solidFill>
            <a:prstDash val="solid"/>
          </a:ln>
        </p:spPr>
      </p:sp>
      <p:sp>
        <p:nvSpPr>
          <p:cNvPr id="12" name="Text 10"/>
          <p:cNvSpPr/>
          <p:nvPr/>
        </p:nvSpPr>
        <p:spPr>
          <a:xfrm>
            <a:off x="2788920" y="1325880"/>
            <a:ext cx="548640" cy="164592"/>
          </a:xfrm>
          <a:prstGeom prst="rect">
            <a:avLst/>
          </a:prstGeom>
          <a:noFill/>
          <a:ln/>
        </p:spPr>
        <p:txBody>
          <a:bodyPr wrap="square" lIns="0" tIns="0" rIns="0" bIns="0" rtlCol="0" anchor="ctr"/>
          <a:lstStyle/>
          <a:p>
            <a:pPr marL="0" indent="0" algn="ctr">
              <a:buNone/>
            </a:pPr>
            <a:r>
              <a:rPr lang="en-US" sz="1200" b="1" dirty="0">
                <a:solidFill>
                  <a:srgbClr val="10233D"/>
                </a:solidFill>
              </a:rPr>
              <a:t>03 Apr</a:t>
            </a:r>
            <a:endParaRPr lang="en-US" sz="1200" dirty="0"/>
          </a:p>
        </p:txBody>
      </p:sp>
      <p:sp>
        <p:nvSpPr>
          <p:cNvPr id="13" name="Text 11"/>
          <p:cNvSpPr/>
          <p:nvPr/>
        </p:nvSpPr>
        <p:spPr>
          <a:xfrm>
            <a:off x="2587752" y="1956816"/>
            <a:ext cx="914400" cy="365760"/>
          </a:xfrm>
          <a:prstGeom prst="rect">
            <a:avLst/>
          </a:prstGeom>
          <a:noFill/>
          <a:ln/>
        </p:spPr>
        <p:txBody>
          <a:bodyPr wrap="square" lIns="0" tIns="0" rIns="0" bIns="0" rtlCol="0" anchor="ctr">
            <a:normAutofit/>
          </a:bodyPr>
          <a:lstStyle/>
          <a:p>
            <a:pPr marL="0" indent="0" algn="ctr">
              <a:buNone/>
            </a:pPr>
            <a:r>
              <a:rPr lang="en-US" sz="1200" dirty="0">
                <a:solidFill>
                  <a:srgbClr val="374151"/>
                </a:solidFill>
                <a:latin typeface="Georgia" panose="02040502050405020303" pitchFamily="18" charset="0"/>
              </a:rPr>
              <a:t>Generation ends</a:t>
            </a:r>
            <a:endParaRPr lang="en-US" sz="1200" dirty="0">
              <a:latin typeface="Georgia" panose="02040502050405020303" pitchFamily="18" charset="0"/>
            </a:endParaRPr>
          </a:p>
        </p:txBody>
      </p:sp>
      <p:sp>
        <p:nvSpPr>
          <p:cNvPr id="14" name="Shape 12"/>
          <p:cNvSpPr/>
          <p:nvPr/>
        </p:nvSpPr>
        <p:spPr>
          <a:xfrm>
            <a:off x="4069080" y="1664208"/>
            <a:ext cx="164592" cy="164592"/>
          </a:xfrm>
          <a:prstGeom prst="ellipse">
            <a:avLst/>
          </a:prstGeom>
          <a:solidFill>
            <a:srgbClr val="2E6BB0"/>
          </a:solidFill>
          <a:ln w="12700">
            <a:solidFill>
              <a:srgbClr val="2E6BB0"/>
            </a:solidFill>
            <a:prstDash val="solid"/>
          </a:ln>
        </p:spPr>
      </p:sp>
      <p:sp>
        <p:nvSpPr>
          <p:cNvPr id="15" name="Text 13"/>
          <p:cNvSpPr/>
          <p:nvPr/>
        </p:nvSpPr>
        <p:spPr>
          <a:xfrm>
            <a:off x="3886200" y="1325880"/>
            <a:ext cx="548640" cy="164592"/>
          </a:xfrm>
          <a:prstGeom prst="rect">
            <a:avLst/>
          </a:prstGeom>
          <a:noFill/>
          <a:ln/>
        </p:spPr>
        <p:txBody>
          <a:bodyPr wrap="square" lIns="0" tIns="0" rIns="0" bIns="0" rtlCol="0" anchor="ctr"/>
          <a:lstStyle/>
          <a:p>
            <a:pPr marL="0" indent="0" algn="ctr">
              <a:buNone/>
            </a:pPr>
            <a:r>
              <a:rPr lang="en-US" sz="1200" b="1" dirty="0">
                <a:solidFill>
                  <a:srgbClr val="10233D"/>
                </a:solidFill>
              </a:rPr>
              <a:t>07 Apr</a:t>
            </a:r>
            <a:endParaRPr lang="en-US" sz="1200" dirty="0"/>
          </a:p>
        </p:txBody>
      </p:sp>
      <p:sp>
        <p:nvSpPr>
          <p:cNvPr id="16" name="Text 14"/>
          <p:cNvSpPr/>
          <p:nvPr/>
        </p:nvSpPr>
        <p:spPr>
          <a:xfrm>
            <a:off x="3685032" y="1956816"/>
            <a:ext cx="914400" cy="365760"/>
          </a:xfrm>
          <a:prstGeom prst="rect">
            <a:avLst/>
          </a:prstGeom>
          <a:noFill/>
          <a:ln/>
        </p:spPr>
        <p:txBody>
          <a:bodyPr wrap="square" lIns="0" tIns="0" rIns="0" bIns="0" rtlCol="0" anchor="ctr">
            <a:normAutofit/>
          </a:bodyPr>
          <a:lstStyle/>
          <a:p>
            <a:pPr marL="0" indent="0" algn="ctr">
              <a:buNone/>
            </a:pPr>
            <a:r>
              <a:rPr lang="en-US" sz="1200" dirty="0">
                <a:solidFill>
                  <a:srgbClr val="374151"/>
                </a:solidFill>
                <a:latin typeface="Georgia" panose="02040502050405020303" pitchFamily="18" charset="0"/>
              </a:rPr>
              <a:t>Detection starts</a:t>
            </a:r>
            <a:endParaRPr lang="en-US" sz="1200" dirty="0">
              <a:latin typeface="Georgia" panose="02040502050405020303" pitchFamily="18" charset="0"/>
            </a:endParaRPr>
          </a:p>
        </p:txBody>
      </p:sp>
      <p:sp>
        <p:nvSpPr>
          <p:cNvPr id="17" name="Shape 15"/>
          <p:cNvSpPr/>
          <p:nvPr/>
        </p:nvSpPr>
        <p:spPr>
          <a:xfrm>
            <a:off x="5120640" y="1664208"/>
            <a:ext cx="164592" cy="164592"/>
          </a:xfrm>
          <a:prstGeom prst="ellipse">
            <a:avLst/>
          </a:prstGeom>
          <a:solidFill>
            <a:srgbClr val="0EA5E9"/>
          </a:solidFill>
          <a:ln w="12700">
            <a:solidFill>
              <a:srgbClr val="0EA5E9"/>
            </a:solidFill>
            <a:prstDash val="solid"/>
          </a:ln>
        </p:spPr>
      </p:sp>
      <p:sp>
        <p:nvSpPr>
          <p:cNvPr id="18" name="Text 16"/>
          <p:cNvSpPr/>
          <p:nvPr/>
        </p:nvSpPr>
        <p:spPr>
          <a:xfrm>
            <a:off x="4937760" y="1325880"/>
            <a:ext cx="548640" cy="164592"/>
          </a:xfrm>
          <a:prstGeom prst="rect">
            <a:avLst/>
          </a:prstGeom>
          <a:noFill/>
          <a:ln/>
        </p:spPr>
        <p:txBody>
          <a:bodyPr wrap="square" lIns="0" tIns="0" rIns="0" bIns="0" rtlCol="0" anchor="ctr"/>
          <a:lstStyle/>
          <a:p>
            <a:pPr marL="0" indent="0" algn="ctr">
              <a:buNone/>
            </a:pPr>
            <a:r>
              <a:rPr lang="en-US" sz="1200" b="1" dirty="0">
                <a:solidFill>
                  <a:srgbClr val="10233D"/>
                </a:solidFill>
              </a:rPr>
              <a:t>07 May</a:t>
            </a:r>
            <a:endParaRPr lang="en-US" sz="1200" dirty="0"/>
          </a:p>
        </p:txBody>
      </p:sp>
      <p:sp>
        <p:nvSpPr>
          <p:cNvPr id="19" name="Text 17"/>
          <p:cNvSpPr/>
          <p:nvPr/>
        </p:nvSpPr>
        <p:spPr>
          <a:xfrm>
            <a:off x="4736592" y="1956816"/>
            <a:ext cx="914400" cy="365760"/>
          </a:xfrm>
          <a:prstGeom prst="rect">
            <a:avLst/>
          </a:prstGeom>
          <a:noFill/>
          <a:ln/>
        </p:spPr>
        <p:txBody>
          <a:bodyPr wrap="square" lIns="0" tIns="0" rIns="0" bIns="0" rtlCol="0" anchor="ctr">
            <a:normAutofit/>
          </a:bodyPr>
          <a:lstStyle/>
          <a:p>
            <a:pPr marL="0" indent="0" algn="ctr">
              <a:buNone/>
            </a:pPr>
            <a:r>
              <a:rPr lang="en-US" sz="1200" dirty="0">
                <a:solidFill>
                  <a:srgbClr val="374151"/>
                </a:solidFill>
                <a:latin typeface="Georgia" panose="02040502050405020303" pitchFamily="18" charset="0"/>
              </a:rPr>
              <a:t>Detection ends</a:t>
            </a:r>
            <a:endParaRPr lang="en-US" sz="1200" dirty="0">
              <a:latin typeface="Georgia" panose="02040502050405020303" pitchFamily="18" charset="0"/>
            </a:endParaRPr>
          </a:p>
        </p:txBody>
      </p:sp>
      <p:sp>
        <p:nvSpPr>
          <p:cNvPr id="20" name="Shape 18"/>
          <p:cNvSpPr/>
          <p:nvPr/>
        </p:nvSpPr>
        <p:spPr>
          <a:xfrm>
            <a:off x="6035040" y="1664208"/>
            <a:ext cx="164592" cy="164592"/>
          </a:xfrm>
          <a:prstGeom prst="ellipse">
            <a:avLst/>
          </a:prstGeom>
          <a:solidFill>
            <a:srgbClr val="0EA5E9"/>
          </a:solidFill>
          <a:ln w="12700">
            <a:solidFill>
              <a:srgbClr val="0EA5E9"/>
            </a:solidFill>
            <a:prstDash val="solid"/>
          </a:ln>
        </p:spPr>
      </p:sp>
      <p:sp>
        <p:nvSpPr>
          <p:cNvPr id="21" name="Text 19"/>
          <p:cNvSpPr/>
          <p:nvPr/>
        </p:nvSpPr>
        <p:spPr>
          <a:xfrm>
            <a:off x="5852160" y="1325880"/>
            <a:ext cx="548640" cy="164592"/>
          </a:xfrm>
          <a:prstGeom prst="rect">
            <a:avLst/>
          </a:prstGeom>
          <a:noFill/>
          <a:ln/>
        </p:spPr>
        <p:txBody>
          <a:bodyPr wrap="square" lIns="0" tIns="0" rIns="0" bIns="0" rtlCol="0" anchor="ctr"/>
          <a:lstStyle/>
          <a:p>
            <a:pPr marL="0" indent="0" algn="ctr">
              <a:buNone/>
            </a:pPr>
            <a:r>
              <a:rPr lang="en-US" sz="1200" b="1" dirty="0">
                <a:solidFill>
                  <a:srgbClr val="10233D"/>
                </a:solidFill>
              </a:rPr>
              <a:t>28 May</a:t>
            </a:r>
            <a:endParaRPr lang="en-US" sz="1200" dirty="0"/>
          </a:p>
        </p:txBody>
      </p:sp>
      <p:sp>
        <p:nvSpPr>
          <p:cNvPr id="22" name="Text 20"/>
          <p:cNvSpPr/>
          <p:nvPr/>
        </p:nvSpPr>
        <p:spPr>
          <a:xfrm>
            <a:off x="5650992" y="1956816"/>
            <a:ext cx="914400" cy="365760"/>
          </a:xfrm>
          <a:prstGeom prst="rect">
            <a:avLst/>
          </a:prstGeom>
          <a:noFill/>
          <a:ln/>
        </p:spPr>
        <p:txBody>
          <a:bodyPr wrap="square" lIns="0" tIns="0" rIns="0" bIns="0" rtlCol="0" anchor="ctr">
            <a:normAutofit/>
          </a:bodyPr>
          <a:lstStyle/>
          <a:p>
            <a:pPr marL="0" indent="0" algn="ctr">
              <a:buNone/>
            </a:pPr>
            <a:r>
              <a:rPr lang="en-US" sz="1200" dirty="0">
                <a:solidFill>
                  <a:srgbClr val="374151"/>
                </a:solidFill>
                <a:latin typeface="Georgia" panose="02040502050405020303" pitchFamily="18" charset="0"/>
              </a:rPr>
              <a:t>Paper due</a:t>
            </a:r>
            <a:endParaRPr lang="en-US" sz="1200" dirty="0">
              <a:latin typeface="Georgia" panose="02040502050405020303" pitchFamily="18" charset="0"/>
            </a:endParaRPr>
          </a:p>
        </p:txBody>
      </p:sp>
      <p:sp>
        <p:nvSpPr>
          <p:cNvPr id="23" name="Shape 21"/>
          <p:cNvSpPr/>
          <p:nvPr/>
        </p:nvSpPr>
        <p:spPr>
          <a:xfrm>
            <a:off x="731520" y="2697480"/>
            <a:ext cx="5806440" cy="2240280"/>
          </a:xfrm>
          <a:prstGeom prst="roundRect">
            <a:avLst>
              <a:gd name="adj" fmla="val 3265"/>
            </a:avLst>
          </a:prstGeom>
          <a:solidFill>
            <a:srgbClr val="FFFFFF"/>
          </a:solidFill>
          <a:ln w="12700">
            <a:solidFill>
              <a:srgbClr val="E5E7EB"/>
            </a:solidFill>
            <a:prstDash val="solid"/>
          </a:ln>
          <a:effectLst>
            <a:outerShdw blurRad="12700" dist="3810" dir="2700000" algn="bl" rotWithShape="0">
              <a:srgbClr val="000000">
                <a:alpha val="8000"/>
              </a:srgbClr>
            </a:outerShdw>
          </a:effectLst>
        </p:spPr>
      </p:sp>
      <p:sp>
        <p:nvSpPr>
          <p:cNvPr id="24" name="Text 22"/>
          <p:cNvSpPr/>
          <p:nvPr/>
        </p:nvSpPr>
        <p:spPr>
          <a:xfrm>
            <a:off x="969264" y="2907792"/>
            <a:ext cx="2916936" cy="338328"/>
          </a:xfrm>
          <a:prstGeom prst="rect">
            <a:avLst/>
          </a:prstGeom>
          <a:noFill/>
          <a:ln/>
        </p:spPr>
        <p:txBody>
          <a:bodyPr wrap="square" lIns="0" tIns="0" rIns="0" bIns="0" rtlCol="0" anchor="ctr"/>
          <a:lstStyle/>
          <a:p>
            <a:pPr marL="0" indent="0">
              <a:buNone/>
            </a:pPr>
            <a:r>
              <a:rPr lang="en-US" sz="1750" b="1" dirty="0">
                <a:solidFill>
                  <a:srgbClr val="10233D"/>
                </a:solidFill>
                <a:latin typeface="Georgia" panose="02040502050405020303" pitchFamily="18" charset="0"/>
              </a:rPr>
              <a:t>Registration essentials</a:t>
            </a:r>
            <a:endParaRPr lang="en-US" sz="1750" dirty="0">
              <a:latin typeface="Georgia" panose="02040502050405020303" pitchFamily="18" charset="0"/>
            </a:endParaRPr>
          </a:p>
        </p:txBody>
      </p:sp>
      <p:sp>
        <p:nvSpPr>
          <p:cNvPr id="25" name="Text 23"/>
          <p:cNvSpPr/>
          <p:nvPr/>
        </p:nvSpPr>
        <p:spPr>
          <a:xfrm>
            <a:off x="969264" y="3246119"/>
            <a:ext cx="5074920" cy="1394119"/>
          </a:xfrm>
          <a:prstGeom prst="rect">
            <a:avLst/>
          </a:prstGeom>
          <a:noFill/>
          <a:ln/>
        </p:spPr>
        <p:txBody>
          <a:bodyPr wrap="square" lIns="254" tIns="254" rIns="254" bIns="254" rtlCol="0" anchor="ctr">
            <a:normAutofit/>
          </a:bodyPr>
          <a:lstStyle/>
          <a:p>
            <a:pPr marL="152400" indent="-152400">
              <a:buSzPct val="100000"/>
              <a:buChar char="•"/>
            </a:pPr>
            <a:r>
              <a:rPr lang="en-US" sz="1300" dirty="0">
                <a:solidFill>
                  <a:srgbClr val="374151"/>
                </a:solidFill>
                <a:latin typeface="Georgia" panose="02040502050405020303" pitchFamily="18" charset="0"/>
              </a:rPr>
              <a:t>Use AI4MediaBench (not a separate CLEF registration page).</a:t>
            </a:r>
          </a:p>
          <a:p>
            <a:pPr marL="152400" indent="-152400">
              <a:buSzPct val="100000"/>
              <a:buChar char="•"/>
            </a:pPr>
            <a:endParaRPr lang="en-US" sz="1300" dirty="0">
              <a:latin typeface="Georgia" panose="02040502050405020303" pitchFamily="18" charset="0"/>
            </a:endParaRPr>
          </a:p>
          <a:p>
            <a:pPr marL="152400" indent="-152400">
              <a:buSzPct val="100000"/>
              <a:buChar char="•"/>
            </a:pPr>
            <a:r>
              <a:rPr lang="en-US" sz="1300" dirty="0">
                <a:solidFill>
                  <a:srgbClr val="374151"/>
                </a:solidFill>
                <a:latin typeface="Georgia" panose="02040502050405020303" pitchFamily="18" charset="0"/>
              </a:rPr>
              <a:t>Create the platform account, complete the Terms form, then click Participate for each task.</a:t>
            </a:r>
          </a:p>
          <a:p>
            <a:pPr marL="152400" indent="-152400">
              <a:buSzPct val="100000"/>
              <a:buChar char="•"/>
            </a:pPr>
            <a:endParaRPr lang="en-US" sz="1300" dirty="0">
              <a:latin typeface="Georgia" panose="02040502050405020303" pitchFamily="18" charset="0"/>
            </a:endParaRPr>
          </a:p>
          <a:p>
            <a:pPr marL="152400" indent="-152400">
              <a:buSzPct val="100000"/>
              <a:buChar char="•"/>
            </a:pPr>
            <a:r>
              <a:rPr lang="en-US" sz="1300" dirty="0">
                <a:solidFill>
                  <a:srgbClr val="374151"/>
                </a:solidFill>
                <a:latin typeface="Georgia" panose="02040502050405020303" pitchFamily="18" charset="0"/>
              </a:rPr>
              <a:t>Use the same email address for the platform account and the form.</a:t>
            </a:r>
            <a:endParaRPr lang="en-US" sz="1300" dirty="0">
              <a:latin typeface="Georgia" panose="02040502050405020303" pitchFamily="18" charset="0"/>
            </a:endParaRPr>
          </a:p>
        </p:txBody>
      </p:sp>
      <p:sp>
        <p:nvSpPr>
          <p:cNvPr id="27" name="Text 24"/>
          <p:cNvSpPr/>
          <p:nvPr/>
        </p:nvSpPr>
        <p:spPr>
          <a:xfrm>
            <a:off x="11612880" y="6574536"/>
            <a:ext cx="274320" cy="146304"/>
          </a:xfrm>
          <a:prstGeom prst="rect">
            <a:avLst/>
          </a:prstGeom>
          <a:noFill/>
          <a:ln/>
        </p:spPr>
        <p:txBody>
          <a:bodyPr wrap="square" lIns="0" tIns="0" rIns="0" bIns="0" rtlCol="0" anchor="ctr"/>
          <a:lstStyle/>
          <a:p>
            <a:pPr marL="0" indent="0" algn="r">
              <a:buNone/>
            </a:pPr>
            <a:r>
              <a:rPr lang="en-US" sz="900" dirty="0">
                <a:solidFill>
                  <a:srgbClr val="6B7280"/>
                </a:solidFill>
              </a:rPr>
              <a:t>4</a:t>
            </a:r>
            <a:endParaRPr lang="en-US" sz="900" dirty="0"/>
          </a:p>
        </p:txBody>
      </p:sp>
      <p:pic>
        <p:nvPicPr>
          <p:cNvPr id="29" name="Picture 28">
            <a:extLst>
              <a:ext uri="{FF2B5EF4-FFF2-40B4-BE49-F238E27FC236}">
                <a16:creationId xmlns:a16="http://schemas.microsoft.com/office/drawing/2014/main" id="{FC5CE7D4-D8DD-7174-5AAC-004E4D08400C}"/>
              </a:ext>
            </a:extLst>
          </p:cNvPr>
          <p:cNvPicPr>
            <a:picLocks noChangeAspect="1"/>
          </p:cNvPicPr>
          <p:nvPr/>
        </p:nvPicPr>
        <p:blipFill>
          <a:blip r:embed="rId3"/>
          <a:stretch>
            <a:fillRect/>
          </a:stretch>
        </p:blipFill>
        <p:spPr>
          <a:xfrm>
            <a:off x="6775704" y="777105"/>
            <a:ext cx="5237723" cy="4603934"/>
          </a:xfrm>
          <a:prstGeom prst="rect">
            <a:avLst/>
          </a:prstGeom>
        </p:spPr>
      </p:pic>
      <p:sp>
        <p:nvSpPr>
          <p:cNvPr id="30" name="TextBox 29">
            <a:extLst>
              <a:ext uri="{FF2B5EF4-FFF2-40B4-BE49-F238E27FC236}">
                <a16:creationId xmlns:a16="http://schemas.microsoft.com/office/drawing/2014/main" id="{21321D9A-5984-8207-EA1C-F754967FDDD3}"/>
              </a:ext>
            </a:extLst>
          </p:cNvPr>
          <p:cNvSpPr txBox="1"/>
          <p:nvPr/>
        </p:nvSpPr>
        <p:spPr>
          <a:xfrm>
            <a:off x="731520" y="5854890"/>
            <a:ext cx="5760720" cy="307777"/>
          </a:xfrm>
          <a:prstGeom prst="rect">
            <a:avLst/>
          </a:prstGeom>
          <a:noFill/>
        </p:spPr>
        <p:txBody>
          <a:bodyPr wrap="square" rtlCol="0">
            <a:spAutoFit/>
          </a:bodyPr>
          <a:lstStyle/>
          <a:p>
            <a:r>
              <a:rPr lang="en-US" sz="1400" dirty="0">
                <a:latin typeface="Georgia" panose="02040502050405020303" pitchFamily="18" charset="0"/>
                <a:hlinkClick r:id="rId4"/>
              </a:rPr>
              <a:t>https://ai4media-bench.aimultimedialab.ro/competitions/public/</a:t>
            </a:r>
            <a:endParaRPr lang="en-US" sz="1400" dirty="0">
              <a:latin typeface="Georgia" panose="02040502050405020303" pitchFamily="18" charset="0"/>
            </a:endParaRPr>
          </a:p>
        </p:txBody>
      </p:sp>
      <p:sp>
        <p:nvSpPr>
          <p:cNvPr id="31" name="Text 12">
            <a:extLst>
              <a:ext uri="{FF2B5EF4-FFF2-40B4-BE49-F238E27FC236}">
                <a16:creationId xmlns:a16="http://schemas.microsoft.com/office/drawing/2014/main" id="{5CC81F3F-5B00-315D-EDF5-8E81A28E5C70}"/>
              </a:ext>
            </a:extLst>
          </p:cNvPr>
          <p:cNvSpPr/>
          <p:nvPr/>
        </p:nvSpPr>
        <p:spPr>
          <a:xfrm>
            <a:off x="7150608" y="5468112"/>
            <a:ext cx="4343400" cy="219456"/>
          </a:xfrm>
          <a:prstGeom prst="rect">
            <a:avLst/>
          </a:prstGeom>
          <a:noFill/>
          <a:ln/>
        </p:spPr>
        <p:txBody>
          <a:bodyPr wrap="square" lIns="0" tIns="0" rIns="0" bIns="0" rtlCol="0" anchor="ctr"/>
          <a:lstStyle/>
          <a:p>
            <a:pPr algn="ctr"/>
            <a:r>
              <a:rPr lang="en-US" sz="1300" dirty="0">
                <a:solidFill>
                  <a:srgbClr val="4B5563"/>
                </a:solidFill>
                <a:latin typeface="Georgia" panose="02040502050405020303" pitchFamily="18" charset="0"/>
              </a:rPr>
              <a:t>Fig.2. Participant registration.</a:t>
            </a:r>
            <a:endParaRPr lang="en-US" sz="1300" dirty="0">
              <a:latin typeface="Georgia" panose="02040502050405020303"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10896"/>
            <a:ext cx="7863840" cy="411480"/>
          </a:xfrm>
          <a:prstGeom prst="rect">
            <a:avLst/>
          </a:prstGeom>
          <a:noFill/>
          <a:ln/>
        </p:spPr>
        <p:txBody>
          <a:bodyPr wrap="square" lIns="0" tIns="0" rIns="0" bIns="0" rtlCol="0" anchor="ctr"/>
          <a:lstStyle/>
          <a:p>
            <a:pPr marL="0" indent="0">
              <a:buNone/>
            </a:pPr>
            <a:r>
              <a:rPr lang="en-US" sz="2300" b="1" dirty="0">
                <a:solidFill>
                  <a:srgbClr val="10233D"/>
                </a:solidFill>
                <a:latin typeface="Georgia" panose="02040502050405020303" pitchFamily="18" charset="0"/>
                <a:ea typeface="Aptos Display" pitchFamily="34" charset="-122"/>
                <a:cs typeface="Aptos Display" pitchFamily="34" charset="-120"/>
              </a:rPr>
              <a:t>Data, constraints, and evaluation</a:t>
            </a:r>
            <a:endParaRPr lang="en-US" sz="2300" dirty="0">
              <a:latin typeface="Georgia" panose="02040502050405020303" pitchFamily="18" charset="0"/>
            </a:endParaRPr>
          </a:p>
        </p:txBody>
      </p:sp>
      <p:sp>
        <p:nvSpPr>
          <p:cNvPr id="3" name="Text 1"/>
          <p:cNvSpPr/>
          <p:nvPr/>
        </p:nvSpPr>
        <p:spPr>
          <a:xfrm>
            <a:off x="512064" y="822960"/>
            <a:ext cx="7498080" cy="210312"/>
          </a:xfrm>
          <a:prstGeom prst="rect">
            <a:avLst/>
          </a:prstGeom>
          <a:noFill/>
          <a:ln/>
        </p:spPr>
        <p:txBody>
          <a:bodyPr wrap="square" lIns="0" tIns="0" rIns="0" bIns="0" rtlCol="0" anchor="ctr"/>
          <a:lstStyle/>
          <a:p>
            <a:pPr marL="0" indent="0">
              <a:buNone/>
            </a:pPr>
            <a:r>
              <a:rPr lang="en-US" sz="1600" dirty="0">
                <a:solidFill>
                  <a:srgbClr val="4B5563"/>
                </a:solidFill>
                <a:latin typeface="Georgia" panose="02040502050405020303" pitchFamily="18" charset="0"/>
              </a:rPr>
              <a:t>Model design</a:t>
            </a:r>
            <a:endParaRPr lang="en-US" sz="1600" dirty="0">
              <a:latin typeface="Georgia" panose="02040502050405020303" pitchFamily="18" charset="0"/>
            </a:endParaRPr>
          </a:p>
        </p:txBody>
      </p:sp>
      <p:sp>
        <p:nvSpPr>
          <p:cNvPr id="4" name="Shape 2"/>
          <p:cNvSpPr/>
          <p:nvPr/>
        </p:nvSpPr>
        <p:spPr>
          <a:xfrm>
            <a:off x="640080" y="1188720"/>
            <a:ext cx="3657600" cy="4526280"/>
          </a:xfrm>
          <a:prstGeom prst="roundRect">
            <a:avLst>
              <a:gd name="adj" fmla="val 2000"/>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5" name="Shape 3"/>
          <p:cNvSpPr/>
          <p:nvPr/>
        </p:nvSpPr>
        <p:spPr>
          <a:xfrm>
            <a:off x="640080" y="1188720"/>
            <a:ext cx="73152" cy="4526280"/>
          </a:xfrm>
          <a:prstGeom prst="rect">
            <a:avLst/>
          </a:prstGeom>
          <a:solidFill>
            <a:srgbClr val="10B981"/>
          </a:solidFill>
          <a:ln w="12700">
            <a:solidFill>
              <a:srgbClr val="10B981"/>
            </a:solidFill>
            <a:prstDash val="solid"/>
          </a:ln>
        </p:spPr>
      </p:sp>
      <p:sp>
        <p:nvSpPr>
          <p:cNvPr id="6" name="Text 4"/>
          <p:cNvSpPr/>
          <p:nvPr/>
        </p:nvSpPr>
        <p:spPr>
          <a:xfrm>
            <a:off x="804672" y="1335024"/>
            <a:ext cx="3383280" cy="256032"/>
          </a:xfrm>
          <a:prstGeom prst="rect">
            <a:avLst/>
          </a:prstGeom>
          <a:noFill/>
          <a:ln/>
        </p:spPr>
        <p:txBody>
          <a:bodyPr wrap="square" lIns="0" tIns="0" rIns="0" bIns="0" rtlCol="0" anchor="ctr"/>
          <a:lstStyle/>
          <a:p>
            <a:pPr marL="0" indent="0">
              <a:buNone/>
            </a:pPr>
            <a:r>
              <a:rPr lang="en-US" sz="1550" b="1" dirty="0">
                <a:solidFill>
                  <a:srgbClr val="10233D"/>
                </a:solidFill>
                <a:latin typeface="Georgia" panose="02040502050405020303" pitchFamily="18" charset="0"/>
              </a:rPr>
              <a:t>Generation track</a:t>
            </a:r>
            <a:endParaRPr lang="en-US" sz="1550" dirty="0">
              <a:latin typeface="Georgia" panose="02040502050405020303" pitchFamily="18" charset="0"/>
            </a:endParaRPr>
          </a:p>
        </p:txBody>
      </p:sp>
      <p:sp>
        <p:nvSpPr>
          <p:cNvPr id="7" name="Text 5"/>
          <p:cNvSpPr/>
          <p:nvPr/>
        </p:nvSpPr>
        <p:spPr>
          <a:xfrm>
            <a:off x="804672" y="1691640"/>
            <a:ext cx="3364992" cy="3867912"/>
          </a:xfrm>
          <a:prstGeom prst="rect">
            <a:avLst/>
          </a:prstGeom>
          <a:noFill/>
          <a:ln/>
        </p:spPr>
        <p:txBody>
          <a:bodyPr wrap="square" lIns="508" tIns="508" rIns="508" bIns="508" rtlCol="0" anchor="t">
            <a:normAutofit/>
          </a:bodyPr>
          <a:lstStyle/>
          <a:p>
            <a:pPr marL="177800" indent="-177800" algn="just">
              <a:buSzPct val="100000"/>
              <a:buChar char="•"/>
            </a:pPr>
            <a:r>
              <a:rPr lang="en-US" sz="1300" dirty="0">
                <a:solidFill>
                  <a:srgbClr val="374151"/>
                </a:solidFill>
                <a:latin typeface="Georgia" panose="02040502050405020303" pitchFamily="18" charset="0"/>
              </a:rPr>
              <a:t>Input is few-shot: one reference video or one reference audio file per identity.</a:t>
            </a:r>
          </a:p>
          <a:p>
            <a:pPr marL="177800" indent="-177800" algn="just">
              <a:buSzPct val="100000"/>
              <a:buChar char="•"/>
            </a:pPr>
            <a:endParaRPr lang="en-US" sz="1300" dirty="0">
              <a:latin typeface="Georgia" panose="02040502050405020303" pitchFamily="18" charset="0"/>
            </a:endParaRPr>
          </a:p>
          <a:p>
            <a:pPr marL="177800" indent="-177800" algn="just">
              <a:buSzPct val="100000"/>
              <a:buChar char="•"/>
            </a:pPr>
            <a:r>
              <a:rPr lang="en-US" sz="1300" dirty="0">
                <a:solidFill>
                  <a:srgbClr val="374151"/>
                </a:solidFill>
                <a:latin typeface="Georgia" panose="02040502050405020303" pitchFamily="18" charset="0"/>
              </a:rPr>
              <a:t>Image generation must preserve facial landmark constraints.</a:t>
            </a:r>
          </a:p>
          <a:p>
            <a:pPr marL="177800" indent="-177800" algn="just">
              <a:buSzPct val="100000"/>
              <a:buChar char="•"/>
            </a:pPr>
            <a:endParaRPr lang="en-US" sz="1300" dirty="0">
              <a:latin typeface="Georgia" panose="02040502050405020303" pitchFamily="18" charset="0"/>
            </a:endParaRPr>
          </a:p>
          <a:p>
            <a:pPr marL="177800" indent="-177800" algn="just">
              <a:buSzPct val="100000"/>
              <a:buChar char="•"/>
            </a:pPr>
            <a:r>
              <a:rPr lang="en-US" sz="1300" dirty="0">
                <a:solidFill>
                  <a:srgbClr val="374151"/>
                </a:solidFill>
                <a:latin typeface="Georgia" panose="02040502050405020303" pitchFamily="18" charset="0"/>
              </a:rPr>
              <a:t>Audio generation must speak the required text prompt.</a:t>
            </a:r>
          </a:p>
          <a:p>
            <a:pPr marL="177800" indent="-177800" algn="just">
              <a:buSzPct val="100000"/>
              <a:buChar char="•"/>
            </a:pPr>
            <a:endParaRPr lang="en-US" sz="1300" dirty="0">
              <a:solidFill>
                <a:srgbClr val="374151"/>
              </a:solidFill>
              <a:latin typeface="Georgia" panose="02040502050405020303" pitchFamily="18" charset="0"/>
            </a:endParaRPr>
          </a:p>
          <a:p>
            <a:pPr marL="177800" indent="-177800" algn="just">
              <a:buSzPct val="100000"/>
              <a:buChar char="•"/>
            </a:pPr>
            <a:r>
              <a:rPr lang="en-US" sz="1300" dirty="0">
                <a:solidFill>
                  <a:srgbClr val="374151"/>
                </a:solidFill>
                <a:latin typeface="Georgia" panose="02040502050405020303" pitchFamily="18" charset="0"/>
              </a:rPr>
              <a:t>For the Images subtask, a dataset composed of</a:t>
            </a:r>
            <a:r>
              <a:rPr lang="en-US" sz="1300" b="1" dirty="0">
                <a:solidFill>
                  <a:srgbClr val="374151"/>
                </a:solidFill>
                <a:latin typeface="Georgia" panose="02040502050405020303" pitchFamily="18" charset="0"/>
              </a:rPr>
              <a:t> over 300 video clips </a:t>
            </a:r>
            <a:r>
              <a:rPr lang="en-US" sz="1300" dirty="0">
                <a:solidFill>
                  <a:srgbClr val="374151"/>
                </a:solidFill>
                <a:latin typeface="Georgia" panose="02040502050405020303" pitchFamily="18" charset="0"/>
              </a:rPr>
              <a:t>of length between 8 and 30 seconds, depicting a single person speaking.</a:t>
            </a:r>
          </a:p>
          <a:p>
            <a:pPr marL="177800" indent="-177800" algn="just">
              <a:buSzPct val="100000"/>
              <a:buChar char="•"/>
            </a:pPr>
            <a:endParaRPr lang="en-US" sz="1300" dirty="0">
              <a:solidFill>
                <a:srgbClr val="374151"/>
              </a:solidFill>
              <a:latin typeface="Georgia" panose="02040502050405020303" pitchFamily="18" charset="0"/>
            </a:endParaRPr>
          </a:p>
          <a:p>
            <a:pPr marL="177800" indent="-177800" algn="just">
              <a:buSzPct val="100000"/>
              <a:buChar char="•"/>
            </a:pPr>
            <a:r>
              <a:rPr lang="en-US" sz="1300" dirty="0">
                <a:solidFill>
                  <a:srgbClr val="374151"/>
                </a:solidFill>
                <a:latin typeface="Georgia" panose="02040502050405020303" pitchFamily="18" charset="0"/>
              </a:rPr>
              <a:t>For the Audio subtask, a dataset of </a:t>
            </a:r>
            <a:r>
              <a:rPr lang="en-US" sz="1300" b="1" dirty="0">
                <a:solidFill>
                  <a:srgbClr val="374151"/>
                </a:solidFill>
                <a:latin typeface="Georgia" panose="02040502050405020303" pitchFamily="18" charset="0"/>
              </a:rPr>
              <a:t>hundreds of mono audio files </a:t>
            </a:r>
            <a:r>
              <a:rPr lang="en-US" sz="1300" dirty="0">
                <a:solidFill>
                  <a:srgbClr val="374151"/>
                </a:solidFill>
                <a:latin typeface="Georgia" panose="02040502050405020303" pitchFamily="18" charset="0"/>
              </a:rPr>
              <a:t>of different people saying different phrases, along with a text transcription of those phrases. </a:t>
            </a:r>
          </a:p>
          <a:p>
            <a:pPr marL="177800" indent="-177800" algn="just">
              <a:buSzPct val="100000"/>
              <a:buChar char="•"/>
            </a:pPr>
            <a:endParaRPr lang="en-US" sz="1300" dirty="0">
              <a:solidFill>
                <a:srgbClr val="374151"/>
              </a:solidFill>
              <a:latin typeface="Georgia" panose="02040502050405020303" pitchFamily="18" charset="0"/>
            </a:endParaRPr>
          </a:p>
          <a:p>
            <a:pPr marL="177800" indent="-177800" algn="just">
              <a:buSzPct val="100000"/>
              <a:buChar char="•"/>
            </a:pPr>
            <a:endParaRPr lang="en-US" sz="1300" dirty="0">
              <a:latin typeface="Georgia" panose="02040502050405020303" pitchFamily="18" charset="0"/>
            </a:endParaRPr>
          </a:p>
        </p:txBody>
      </p:sp>
      <p:sp>
        <p:nvSpPr>
          <p:cNvPr id="8" name="Shape 6"/>
          <p:cNvSpPr/>
          <p:nvPr/>
        </p:nvSpPr>
        <p:spPr>
          <a:xfrm>
            <a:off x="4526280" y="1188720"/>
            <a:ext cx="3657600" cy="4526280"/>
          </a:xfrm>
          <a:prstGeom prst="roundRect">
            <a:avLst>
              <a:gd name="adj" fmla="val 2000"/>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9" name="Shape 7"/>
          <p:cNvSpPr/>
          <p:nvPr/>
        </p:nvSpPr>
        <p:spPr>
          <a:xfrm>
            <a:off x="4526280" y="1188720"/>
            <a:ext cx="73152" cy="4526280"/>
          </a:xfrm>
          <a:prstGeom prst="rect">
            <a:avLst/>
          </a:prstGeom>
          <a:solidFill>
            <a:srgbClr val="F59E0B"/>
          </a:solidFill>
          <a:ln w="12700">
            <a:solidFill>
              <a:srgbClr val="F59E0B"/>
            </a:solidFill>
            <a:prstDash val="solid"/>
          </a:ln>
        </p:spPr>
      </p:sp>
      <p:sp>
        <p:nvSpPr>
          <p:cNvPr id="10" name="Text 8"/>
          <p:cNvSpPr/>
          <p:nvPr/>
        </p:nvSpPr>
        <p:spPr>
          <a:xfrm>
            <a:off x="4690872" y="1335024"/>
            <a:ext cx="3383280" cy="256032"/>
          </a:xfrm>
          <a:prstGeom prst="rect">
            <a:avLst/>
          </a:prstGeom>
          <a:noFill/>
          <a:ln/>
        </p:spPr>
        <p:txBody>
          <a:bodyPr wrap="square" lIns="0" tIns="0" rIns="0" bIns="0" rtlCol="0" anchor="ctr"/>
          <a:lstStyle/>
          <a:p>
            <a:pPr marL="0" indent="0">
              <a:buNone/>
            </a:pPr>
            <a:r>
              <a:rPr lang="en-US" sz="1550" b="1" dirty="0">
                <a:solidFill>
                  <a:srgbClr val="10233D"/>
                </a:solidFill>
                <a:latin typeface="Georgia" panose="02040502050405020303" pitchFamily="18" charset="0"/>
              </a:rPr>
              <a:t>Detection track</a:t>
            </a:r>
            <a:endParaRPr lang="en-US" sz="1550" dirty="0">
              <a:latin typeface="Georgia" panose="02040502050405020303" pitchFamily="18" charset="0"/>
            </a:endParaRPr>
          </a:p>
        </p:txBody>
      </p:sp>
      <p:sp>
        <p:nvSpPr>
          <p:cNvPr id="11" name="Text 9"/>
          <p:cNvSpPr/>
          <p:nvPr/>
        </p:nvSpPr>
        <p:spPr>
          <a:xfrm>
            <a:off x="4690872" y="1691640"/>
            <a:ext cx="3364992" cy="3867912"/>
          </a:xfrm>
          <a:prstGeom prst="rect">
            <a:avLst/>
          </a:prstGeom>
          <a:noFill/>
          <a:ln/>
        </p:spPr>
        <p:txBody>
          <a:bodyPr wrap="square" lIns="508" tIns="508" rIns="508" bIns="508" rtlCol="0" anchor="t">
            <a:normAutofit/>
          </a:bodyPr>
          <a:lstStyle/>
          <a:p>
            <a:pPr marL="177800" indent="-177800" algn="just">
              <a:buSzPct val="100000"/>
              <a:buChar char="•"/>
            </a:pPr>
            <a:r>
              <a:rPr lang="en-US" sz="1300" dirty="0">
                <a:solidFill>
                  <a:srgbClr val="374151"/>
                </a:solidFill>
                <a:latin typeface="Georgia" panose="02040502050405020303" pitchFamily="18" charset="0"/>
              </a:rPr>
              <a:t>Binary classification: real vs deepfake.</a:t>
            </a:r>
          </a:p>
          <a:p>
            <a:pPr marL="177800" indent="-177800" algn="just">
              <a:buSzPct val="100000"/>
              <a:buChar char="•"/>
            </a:pPr>
            <a:endParaRPr lang="en-US" sz="1300" dirty="0">
              <a:latin typeface="Georgia" panose="02040502050405020303" pitchFamily="18" charset="0"/>
            </a:endParaRPr>
          </a:p>
          <a:p>
            <a:pPr marL="177800" indent="-177800" algn="just">
              <a:buSzPct val="100000"/>
              <a:buChar char="•"/>
            </a:pPr>
            <a:r>
              <a:rPr lang="en-US" sz="1300" dirty="0">
                <a:solidFill>
                  <a:srgbClr val="374151"/>
                </a:solidFill>
                <a:latin typeface="Georgia" panose="02040502050405020303" pitchFamily="18" charset="0"/>
              </a:rPr>
              <a:t>Test data includes organizer deepfakes, internet deepfakes, and participant-generated deepfakes.</a:t>
            </a:r>
          </a:p>
          <a:p>
            <a:pPr marL="177800" indent="-177800" algn="just">
              <a:buSzPct val="100000"/>
              <a:buChar char="•"/>
            </a:pPr>
            <a:endParaRPr lang="en-US" sz="1300" dirty="0">
              <a:latin typeface="Georgia" panose="02040502050405020303" pitchFamily="18" charset="0"/>
            </a:endParaRPr>
          </a:p>
          <a:p>
            <a:pPr marL="177800" indent="-177800" algn="just">
              <a:buSzPct val="100000"/>
              <a:buChar char="•"/>
            </a:pPr>
            <a:r>
              <a:rPr lang="en-US" sz="1300" dirty="0">
                <a:solidFill>
                  <a:srgbClr val="374151"/>
                </a:solidFill>
                <a:latin typeface="Georgia" panose="02040502050405020303" pitchFamily="18" charset="0"/>
              </a:rPr>
              <a:t>Evaluation uses accuracy, recall, precision, and F1.</a:t>
            </a:r>
          </a:p>
          <a:p>
            <a:pPr marL="177800" indent="-177800" algn="just">
              <a:buSzPct val="100000"/>
              <a:buChar char="•"/>
            </a:pPr>
            <a:endParaRPr lang="en-US" sz="1300" dirty="0">
              <a:latin typeface="Georgia" panose="02040502050405020303" pitchFamily="18" charset="0"/>
            </a:endParaRPr>
          </a:p>
          <a:p>
            <a:pPr marL="177800" indent="-177800" algn="just">
              <a:buSzPct val="100000"/>
              <a:buChar char="•"/>
            </a:pPr>
            <a:r>
              <a:rPr lang="en-US" sz="1300" dirty="0">
                <a:solidFill>
                  <a:srgbClr val="374151"/>
                </a:solidFill>
                <a:latin typeface="Georgia" panose="02040502050405020303" pitchFamily="18" charset="0"/>
              </a:rPr>
              <a:t>Because generators vary widely, robust validation matters more than a single dev score.</a:t>
            </a:r>
            <a:endParaRPr lang="en-US" sz="1300" dirty="0">
              <a:latin typeface="Georgia" panose="02040502050405020303" pitchFamily="18" charset="0"/>
            </a:endParaRPr>
          </a:p>
        </p:txBody>
      </p:sp>
      <p:sp>
        <p:nvSpPr>
          <p:cNvPr id="12" name="Shape 10"/>
          <p:cNvSpPr/>
          <p:nvPr/>
        </p:nvSpPr>
        <p:spPr>
          <a:xfrm>
            <a:off x="8412480" y="1188720"/>
            <a:ext cx="3154680" cy="2011680"/>
          </a:xfrm>
          <a:prstGeom prst="roundRect">
            <a:avLst>
              <a:gd name="adj" fmla="val 3636"/>
            </a:avLst>
          </a:prstGeom>
          <a:solidFill>
            <a:srgbClr val="10233D"/>
          </a:solidFill>
          <a:ln w="12700">
            <a:solidFill>
              <a:srgbClr val="10233D"/>
            </a:solidFill>
            <a:prstDash val="solid"/>
          </a:ln>
        </p:spPr>
      </p:sp>
      <p:sp>
        <p:nvSpPr>
          <p:cNvPr id="13" name="Text 11"/>
          <p:cNvSpPr/>
          <p:nvPr/>
        </p:nvSpPr>
        <p:spPr>
          <a:xfrm>
            <a:off x="8668512" y="1444752"/>
            <a:ext cx="1554480" cy="182880"/>
          </a:xfrm>
          <a:prstGeom prst="rect">
            <a:avLst/>
          </a:prstGeom>
          <a:noFill/>
          <a:ln/>
        </p:spPr>
        <p:txBody>
          <a:bodyPr wrap="square" lIns="0" tIns="0" rIns="0" bIns="0" rtlCol="0" anchor="ctr"/>
          <a:lstStyle/>
          <a:p>
            <a:pPr marL="0" indent="0">
              <a:buNone/>
            </a:pPr>
            <a:r>
              <a:rPr lang="en-US" sz="1700" b="1" dirty="0">
                <a:solidFill>
                  <a:srgbClr val="FFFFFF"/>
                </a:solidFill>
                <a:latin typeface="Georgia" panose="02040502050405020303" pitchFamily="18" charset="0"/>
              </a:rPr>
              <a:t>Critical rule</a:t>
            </a:r>
            <a:endParaRPr lang="en-US" sz="1700" dirty="0">
              <a:latin typeface="Georgia" panose="02040502050405020303" pitchFamily="18" charset="0"/>
            </a:endParaRPr>
          </a:p>
        </p:txBody>
      </p:sp>
      <p:sp>
        <p:nvSpPr>
          <p:cNvPr id="14" name="Text 12"/>
          <p:cNvSpPr/>
          <p:nvPr/>
        </p:nvSpPr>
        <p:spPr>
          <a:xfrm>
            <a:off x="8668512" y="1810512"/>
            <a:ext cx="2651760" cy="822960"/>
          </a:xfrm>
          <a:prstGeom prst="rect">
            <a:avLst/>
          </a:prstGeom>
          <a:noFill/>
          <a:ln/>
        </p:spPr>
        <p:txBody>
          <a:bodyPr wrap="square" lIns="0" tIns="0" rIns="0" bIns="0" rtlCol="0" anchor="ctr">
            <a:normAutofit lnSpcReduction="10000"/>
          </a:bodyPr>
          <a:lstStyle/>
          <a:p>
            <a:pPr marL="0" indent="0" algn="just">
              <a:buNone/>
            </a:pPr>
            <a:r>
              <a:rPr lang="en-US" sz="1450" dirty="0">
                <a:solidFill>
                  <a:srgbClr val="FFFFFF"/>
                </a:solidFill>
                <a:latin typeface="Georgia" panose="02040502050405020303" pitchFamily="18" charset="0"/>
              </a:rPr>
              <a:t>Neither subtask provides a training dataset. Teams are explicitly expected to use public state-of-the-art datasets.</a:t>
            </a:r>
            <a:endParaRPr lang="en-US" sz="1450" dirty="0">
              <a:latin typeface="Georgia" panose="02040502050405020303" pitchFamily="18" charset="0"/>
            </a:endParaRPr>
          </a:p>
        </p:txBody>
      </p:sp>
      <p:sp>
        <p:nvSpPr>
          <p:cNvPr id="15" name="Shape 13"/>
          <p:cNvSpPr/>
          <p:nvPr/>
        </p:nvSpPr>
        <p:spPr>
          <a:xfrm>
            <a:off x="8412480" y="3429000"/>
            <a:ext cx="3154680" cy="2286000"/>
          </a:xfrm>
          <a:prstGeom prst="roundRect">
            <a:avLst>
              <a:gd name="adj" fmla="val 3200"/>
            </a:avLst>
          </a:prstGeom>
          <a:solidFill>
            <a:srgbClr val="FFFFFF"/>
          </a:solidFill>
          <a:ln w="12700">
            <a:solidFill>
              <a:srgbClr val="E5E7EB"/>
            </a:solidFill>
            <a:prstDash val="solid"/>
          </a:ln>
          <a:effectLst>
            <a:outerShdw blurRad="12700" dist="3810" dir="2700000" algn="bl" rotWithShape="0">
              <a:srgbClr val="000000">
                <a:alpha val="8000"/>
              </a:srgbClr>
            </a:outerShdw>
          </a:effectLst>
        </p:spPr>
      </p:sp>
      <p:sp>
        <p:nvSpPr>
          <p:cNvPr id="16" name="Text 14"/>
          <p:cNvSpPr/>
          <p:nvPr/>
        </p:nvSpPr>
        <p:spPr>
          <a:xfrm>
            <a:off x="8650224" y="3675888"/>
            <a:ext cx="2746248" cy="384048"/>
          </a:xfrm>
          <a:prstGeom prst="rect">
            <a:avLst/>
          </a:prstGeom>
          <a:noFill/>
          <a:ln/>
        </p:spPr>
        <p:txBody>
          <a:bodyPr wrap="square" lIns="0" tIns="0" rIns="0" bIns="0" rtlCol="0" anchor="ctr">
            <a:normAutofit fontScale="92500" lnSpcReduction="10000"/>
          </a:bodyPr>
          <a:lstStyle/>
          <a:p>
            <a:pPr marL="0" indent="0">
              <a:buNone/>
            </a:pPr>
            <a:r>
              <a:rPr lang="en-US" sz="1500" b="1" dirty="0">
                <a:solidFill>
                  <a:srgbClr val="10233D"/>
                </a:solidFill>
                <a:latin typeface="Georgia" panose="02040502050405020303" pitchFamily="18" charset="0"/>
              </a:rPr>
              <a:t>Recommended public data from the organizers</a:t>
            </a:r>
            <a:endParaRPr lang="en-US" sz="1500" dirty="0">
              <a:latin typeface="Georgia" panose="02040502050405020303" pitchFamily="18" charset="0"/>
            </a:endParaRPr>
          </a:p>
        </p:txBody>
      </p:sp>
      <p:sp>
        <p:nvSpPr>
          <p:cNvPr id="17" name="Text 15"/>
          <p:cNvSpPr/>
          <p:nvPr/>
        </p:nvSpPr>
        <p:spPr>
          <a:xfrm>
            <a:off x="8641080" y="4096512"/>
            <a:ext cx="2746248" cy="1463040"/>
          </a:xfrm>
          <a:prstGeom prst="rect">
            <a:avLst/>
          </a:prstGeom>
          <a:noFill/>
          <a:ln/>
        </p:spPr>
        <p:txBody>
          <a:bodyPr wrap="square" lIns="254" tIns="254" rIns="254" bIns="254" rtlCol="0" anchor="ctr">
            <a:noAutofit/>
          </a:bodyPr>
          <a:lstStyle/>
          <a:p>
            <a:pPr marL="152400" indent="-152400">
              <a:buSzPct val="100000"/>
              <a:buChar char="•"/>
            </a:pPr>
            <a:r>
              <a:rPr lang="en-US" sz="1200" dirty="0">
                <a:solidFill>
                  <a:srgbClr val="374151"/>
                </a:solidFill>
                <a:latin typeface="Georgia" panose="02040502050405020303" pitchFamily="18" charset="0"/>
              </a:rPr>
              <a:t>Image detection: FaceForensics++, CelebDF, DeeperForensics, DFDC</a:t>
            </a:r>
            <a:endParaRPr lang="en-US" sz="1200" dirty="0">
              <a:latin typeface="Georgia" panose="02040502050405020303" pitchFamily="18" charset="0"/>
            </a:endParaRPr>
          </a:p>
          <a:p>
            <a:pPr marL="152400" indent="-152400">
              <a:buSzPct val="100000"/>
              <a:buChar char="•"/>
            </a:pPr>
            <a:r>
              <a:rPr lang="en-US" sz="1200" dirty="0">
                <a:solidFill>
                  <a:srgbClr val="374151"/>
                </a:solidFill>
                <a:latin typeface="Georgia" panose="02040502050405020303" pitchFamily="18" charset="0"/>
              </a:rPr>
              <a:t>Image generation: AVSpeech, DH-FaceVid-1K, TalkVid</a:t>
            </a:r>
            <a:endParaRPr lang="en-US" sz="1200" dirty="0">
              <a:latin typeface="Georgia" panose="02040502050405020303" pitchFamily="18" charset="0"/>
            </a:endParaRPr>
          </a:p>
          <a:p>
            <a:pPr marL="152400" indent="-152400">
              <a:buSzPct val="100000"/>
              <a:buChar char="•"/>
            </a:pPr>
            <a:r>
              <a:rPr lang="en-US" sz="1200" dirty="0">
                <a:solidFill>
                  <a:srgbClr val="374151"/>
                </a:solidFill>
                <a:latin typeface="Georgia" panose="02040502050405020303" pitchFamily="18" charset="0"/>
              </a:rPr>
              <a:t>Audio detection: ASVspoof, WaveFake, AUDETER</a:t>
            </a:r>
            <a:endParaRPr lang="en-US" sz="1200" dirty="0">
              <a:latin typeface="Georgia" panose="02040502050405020303" pitchFamily="18" charset="0"/>
            </a:endParaRPr>
          </a:p>
          <a:p>
            <a:pPr marL="152400" indent="-152400">
              <a:buSzPct val="100000"/>
              <a:buChar char="•"/>
            </a:pPr>
            <a:r>
              <a:rPr lang="en-US" sz="1200" dirty="0">
                <a:solidFill>
                  <a:srgbClr val="374151"/>
                </a:solidFill>
                <a:latin typeface="Georgia" panose="02040502050405020303" pitchFamily="18" charset="0"/>
              </a:rPr>
              <a:t>Audio generation: LibriSpeech / MLS / People's Speech / Common Voice</a:t>
            </a:r>
            <a:endParaRPr lang="en-US" sz="1200" dirty="0">
              <a:latin typeface="Georgia" panose="02040502050405020303" pitchFamily="18" charset="0"/>
            </a:endParaRPr>
          </a:p>
        </p:txBody>
      </p:sp>
      <p:sp>
        <p:nvSpPr>
          <p:cNvPr id="18" name="Text 16"/>
          <p:cNvSpPr/>
          <p:nvPr/>
        </p:nvSpPr>
        <p:spPr>
          <a:xfrm>
            <a:off x="11612880" y="6574536"/>
            <a:ext cx="274320" cy="146304"/>
          </a:xfrm>
          <a:prstGeom prst="rect">
            <a:avLst/>
          </a:prstGeom>
          <a:noFill/>
          <a:ln/>
        </p:spPr>
        <p:txBody>
          <a:bodyPr wrap="square" lIns="0" tIns="0" rIns="0" bIns="0" rtlCol="0" anchor="ctr"/>
          <a:lstStyle/>
          <a:p>
            <a:pPr marL="0" indent="0" algn="r">
              <a:buNone/>
            </a:pPr>
            <a:r>
              <a:rPr lang="en-US" sz="900" dirty="0">
                <a:solidFill>
                  <a:srgbClr val="6B7280"/>
                </a:solidFill>
              </a:rPr>
              <a:t>5</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10896"/>
            <a:ext cx="7863840" cy="411480"/>
          </a:xfrm>
          <a:prstGeom prst="rect">
            <a:avLst/>
          </a:prstGeom>
          <a:noFill/>
          <a:ln/>
        </p:spPr>
        <p:txBody>
          <a:bodyPr wrap="square" lIns="0" tIns="0" rIns="0" bIns="0" rtlCol="0" anchor="ctr"/>
          <a:lstStyle/>
          <a:p>
            <a:pPr marL="0" indent="0">
              <a:buNone/>
            </a:pPr>
            <a:r>
              <a:rPr lang="en-US" sz="2300" b="1" dirty="0">
                <a:solidFill>
                  <a:srgbClr val="10233D"/>
                </a:solidFill>
                <a:latin typeface="Georgia" panose="02040502050405020303" pitchFamily="18" charset="0"/>
                <a:ea typeface="Aptos Display" pitchFamily="34" charset="-122"/>
                <a:cs typeface="Aptos Display" pitchFamily="34" charset="-120"/>
              </a:rPr>
              <a:t>Recommended high-probability strategy</a:t>
            </a:r>
            <a:endParaRPr lang="en-US" sz="2300" dirty="0">
              <a:latin typeface="Georgia" panose="02040502050405020303" pitchFamily="18" charset="0"/>
            </a:endParaRPr>
          </a:p>
        </p:txBody>
      </p:sp>
      <p:sp>
        <p:nvSpPr>
          <p:cNvPr id="4" name="Shape 2"/>
          <p:cNvSpPr/>
          <p:nvPr/>
        </p:nvSpPr>
        <p:spPr>
          <a:xfrm>
            <a:off x="640080" y="1188720"/>
            <a:ext cx="3931920" cy="4297680"/>
          </a:xfrm>
          <a:prstGeom prst="roundRect">
            <a:avLst>
              <a:gd name="adj" fmla="val 1860"/>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5" name="Shape 3"/>
          <p:cNvSpPr/>
          <p:nvPr/>
        </p:nvSpPr>
        <p:spPr>
          <a:xfrm>
            <a:off x="640080" y="1188720"/>
            <a:ext cx="73152" cy="4297680"/>
          </a:xfrm>
          <a:prstGeom prst="rect">
            <a:avLst/>
          </a:prstGeom>
          <a:solidFill>
            <a:srgbClr val="5FA4E8"/>
          </a:solidFill>
          <a:ln w="12700">
            <a:solidFill>
              <a:srgbClr val="5FA4E8"/>
            </a:solidFill>
            <a:prstDash val="solid"/>
          </a:ln>
        </p:spPr>
      </p:sp>
      <p:sp>
        <p:nvSpPr>
          <p:cNvPr id="6" name="Text 4"/>
          <p:cNvSpPr/>
          <p:nvPr/>
        </p:nvSpPr>
        <p:spPr>
          <a:xfrm>
            <a:off x="804672" y="1335024"/>
            <a:ext cx="3657600" cy="256032"/>
          </a:xfrm>
          <a:prstGeom prst="rect">
            <a:avLst/>
          </a:prstGeom>
          <a:noFill/>
          <a:ln/>
        </p:spPr>
        <p:txBody>
          <a:bodyPr wrap="square" lIns="0" tIns="0" rIns="0" bIns="0" rtlCol="0" anchor="ctr"/>
          <a:lstStyle/>
          <a:p>
            <a:pPr marL="0" indent="0">
              <a:buNone/>
            </a:pPr>
            <a:r>
              <a:rPr lang="en-US" sz="1550" b="1" dirty="0">
                <a:solidFill>
                  <a:srgbClr val="10233D"/>
                </a:solidFill>
                <a:latin typeface="Georgia" panose="02040502050405020303" pitchFamily="18" charset="0"/>
              </a:rPr>
              <a:t>My recommendation</a:t>
            </a:r>
            <a:endParaRPr lang="en-US" sz="1550" dirty="0">
              <a:latin typeface="Georgia" panose="02040502050405020303" pitchFamily="18" charset="0"/>
            </a:endParaRPr>
          </a:p>
        </p:txBody>
      </p:sp>
      <p:sp>
        <p:nvSpPr>
          <p:cNvPr id="7" name="Text 5"/>
          <p:cNvSpPr/>
          <p:nvPr/>
        </p:nvSpPr>
        <p:spPr>
          <a:xfrm>
            <a:off x="804672" y="1691640"/>
            <a:ext cx="3639312" cy="3639312"/>
          </a:xfrm>
          <a:prstGeom prst="rect">
            <a:avLst/>
          </a:prstGeom>
          <a:noFill/>
          <a:ln/>
        </p:spPr>
        <p:txBody>
          <a:bodyPr wrap="square" lIns="508" tIns="508" rIns="508" bIns="508" rtlCol="0" anchor="t">
            <a:normAutofit/>
          </a:bodyPr>
          <a:lstStyle/>
          <a:p>
            <a:pPr marL="177800" indent="-177800" algn="just">
              <a:buSzPct val="100000"/>
              <a:buChar char="•"/>
            </a:pPr>
            <a:r>
              <a:rPr lang="en-US" sz="1400" dirty="0">
                <a:solidFill>
                  <a:srgbClr val="374151"/>
                </a:solidFill>
                <a:latin typeface="Georgia" panose="02040502050405020303" pitchFamily="18" charset="0"/>
              </a:rPr>
              <a:t>Primary goal: build a strong detection submission first. This can be more realistic route especially when time is limited.</a:t>
            </a:r>
          </a:p>
          <a:p>
            <a:pPr marL="177800" indent="-177800" algn="just">
              <a:buSzPct val="100000"/>
              <a:buChar char="•"/>
            </a:pPr>
            <a:endParaRPr lang="en-US" sz="1400" dirty="0">
              <a:latin typeface="Georgia" panose="02040502050405020303" pitchFamily="18" charset="0"/>
            </a:endParaRPr>
          </a:p>
          <a:p>
            <a:pPr marL="177800" indent="-177800" algn="just">
              <a:buSzPct val="100000"/>
              <a:buChar char="•"/>
            </a:pPr>
            <a:r>
              <a:rPr lang="en-US" sz="1400" dirty="0">
                <a:solidFill>
                  <a:srgbClr val="374151"/>
                </a:solidFill>
                <a:latin typeface="Georgia" panose="02040502050405020303" pitchFamily="18" charset="0"/>
              </a:rPr>
              <a:t>Secondary goal: add a controlled generation baseline after the detector is stable.</a:t>
            </a:r>
          </a:p>
          <a:p>
            <a:pPr marL="177800" indent="-177800" algn="just">
              <a:buSzPct val="100000"/>
              <a:buChar char="•"/>
            </a:pPr>
            <a:endParaRPr lang="en-US" sz="1400" dirty="0">
              <a:latin typeface="Georgia" panose="02040502050405020303" pitchFamily="18" charset="0"/>
            </a:endParaRPr>
          </a:p>
          <a:p>
            <a:pPr marL="177800" indent="-177800" algn="just">
              <a:buSzPct val="100000"/>
              <a:buChar char="•"/>
            </a:pPr>
            <a:r>
              <a:rPr lang="en-US" sz="1400" dirty="0">
                <a:solidFill>
                  <a:srgbClr val="374151"/>
                </a:solidFill>
                <a:latin typeface="Georgia" panose="02040502050405020303" pitchFamily="18" charset="0"/>
              </a:rPr>
              <a:t>Use the generation branch as an adversarial data engine to create hard negatives that improve the detector.</a:t>
            </a:r>
            <a:endParaRPr lang="en-US" sz="1400" dirty="0">
              <a:latin typeface="Georgia" panose="02040502050405020303" pitchFamily="18" charset="0"/>
            </a:endParaRPr>
          </a:p>
        </p:txBody>
      </p:sp>
      <p:sp>
        <p:nvSpPr>
          <p:cNvPr id="8" name="Shape 6"/>
          <p:cNvSpPr/>
          <p:nvPr/>
        </p:nvSpPr>
        <p:spPr>
          <a:xfrm>
            <a:off x="4754880" y="2331720"/>
            <a:ext cx="1234440" cy="987552"/>
          </a:xfrm>
          <a:prstGeom prst="roundRect">
            <a:avLst>
              <a:gd name="adj" fmla="val 7407"/>
            </a:avLst>
          </a:prstGeom>
          <a:solidFill>
            <a:srgbClr val="EDF6FF"/>
          </a:solidFill>
          <a:ln w="12700">
            <a:solidFill>
              <a:srgbClr val="2E6BB0"/>
            </a:solidFill>
            <a:prstDash val="solid"/>
          </a:ln>
        </p:spPr>
      </p:sp>
      <p:sp>
        <p:nvSpPr>
          <p:cNvPr id="9" name="Text 7"/>
          <p:cNvSpPr/>
          <p:nvPr/>
        </p:nvSpPr>
        <p:spPr>
          <a:xfrm>
            <a:off x="4828032" y="2615184"/>
            <a:ext cx="1088136" cy="347472"/>
          </a:xfrm>
          <a:prstGeom prst="rect">
            <a:avLst/>
          </a:prstGeom>
          <a:noFill/>
          <a:ln/>
        </p:spPr>
        <p:txBody>
          <a:bodyPr wrap="square" lIns="0" tIns="0" rIns="0" bIns="0" rtlCol="0" anchor="ctr">
            <a:normAutofit fontScale="92500" lnSpcReduction="10000"/>
          </a:bodyPr>
          <a:lstStyle/>
          <a:p>
            <a:pPr marL="0" indent="0" algn="ctr">
              <a:buNone/>
            </a:pPr>
            <a:r>
              <a:rPr lang="en-US" sz="1300" b="1" dirty="0">
                <a:solidFill>
                  <a:srgbClr val="10233D"/>
                </a:solidFill>
                <a:latin typeface="Georgia" panose="02040502050405020303" pitchFamily="18" charset="0"/>
              </a:rPr>
              <a:t>Public</a:t>
            </a:r>
            <a:endParaRPr lang="en-US" sz="1300" dirty="0">
              <a:latin typeface="Georgia" panose="02040502050405020303" pitchFamily="18" charset="0"/>
            </a:endParaRPr>
          </a:p>
          <a:p>
            <a:pPr marL="0" indent="0" algn="ctr">
              <a:buNone/>
            </a:pPr>
            <a:r>
              <a:rPr lang="en-US" sz="1300" b="1" dirty="0">
                <a:solidFill>
                  <a:srgbClr val="10233D"/>
                </a:solidFill>
                <a:latin typeface="Georgia" panose="02040502050405020303" pitchFamily="18" charset="0"/>
              </a:rPr>
              <a:t>datasets</a:t>
            </a:r>
            <a:endParaRPr lang="en-US" sz="1300" dirty="0">
              <a:latin typeface="Georgia" panose="02040502050405020303" pitchFamily="18" charset="0"/>
            </a:endParaRPr>
          </a:p>
        </p:txBody>
      </p:sp>
      <p:sp>
        <p:nvSpPr>
          <p:cNvPr id="10" name="Shape 8"/>
          <p:cNvSpPr/>
          <p:nvPr/>
        </p:nvSpPr>
        <p:spPr>
          <a:xfrm>
            <a:off x="6400800" y="2331720"/>
            <a:ext cx="1325880" cy="987552"/>
          </a:xfrm>
          <a:prstGeom prst="roundRect">
            <a:avLst>
              <a:gd name="adj" fmla="val 7407"/>
            </a:avLst>
          </a:prstGeom>
          <a:solidFill>
            <a:srgbClr val="EEF8F5"/>
          </a:solidFill>
          <a:ln w="12700">
            <a:solidFill>
              <a:srgbClr val="10B981"/>
            </a:solidFill>
            <a:prstDash val="solid"/>
          </a:ln>
        </p:spPr>
      </p:sp>
      <p:sp>
        <p:nvSpPr>
          <p:cNvPr id="11" name="Text 9"/>
          <p:cNvSpPr/>
          <p:nvPr/>
        </p:nvSpPr>
        <p:spPr>
          <a:xfrm>
            <a:off x="6473952" y="2615184"/>
            <a:ext cx="1179576" cy="347472"/>
          </a:xfrm>
          <a:prstGeom prst="rect">
            <a:avLst/>
          </a:prstGeom>
          <a:noFill/>
          <a:ln/>
        </p:spPr>
        <p:txBody>
          <a:bodyPr wrap="square" lIns="0" tIns="0" rIns="0" bIns="0" rtlCol="0" anchor="ctr">
            <a:normAutofit fontScale="92500" lnSpcReduction="10000"/>
          </a:bodyPr>
          <a:lstStyle/>
          <a:p>
            <a:pPr marL="0" indent="0" algn="ctr">
              <a:buNone/>
            </a:pPr>
            <a:r>
              <a:rPr lang="en-US" sz="1300" b="1" dirty="0">
                <a:solidFill>
                  <a:srgbClr val="10233D"/>
                </a:solidFill>
                <a:latin typeface="Georgia" panose="02040502050405020303" pitchFamily="18" charset="0"/>
              </a:rPr>
              <a:t>Detector</a:t>
            </a:r>
            <a:endParaRPr lang="en-US" sz="1300" dirty="0">
              <a:latin typeface="Georgia" panose="02040502050405020303" pitchFamily="18" charset="0"/>
            </a:endParaRPr>
          </a:p>
          <a:p>
            <a:pPr marL="0" indent="0" algn="ctr">
              <a:buNone/>
            </a:pPr>
            <a:r>
              <a:rPr lang="en-US" sz="1300" b="1" dirty="0">
                <a:solidFill>
                  <a:srgbClr val="10233D"/>
                </a:solidFill>
                <a:latin typeface="Georgia" panose="02040502050405020303" pitchFamily="18" charset="0"/>
              </a:rPr>
              <a:t>training</a:t>
            </a:r>
            <a:endParaRPr lang="en-US" sz="1300" dirty="0">
              <a:latin typeface="Georgia" panose="02040502050405020303" pitchFamily="18" charset="0"/>
            </a:endParaRPr>
          </a:p>
        </p:txBody>
      </p:sp>
      <p:sp>
        <p:nvSpPr>
          <p:cNvPr id="12" name="Shape 10"/>
          <p:cNvSpPr/>
          <p:nvPr/>
        </p:nvSpPr>
        <p:spPr>
          <a:xfrm>
            <a:off x="8138160" y="2331720"/>
            <a:ext cx="1325880" cy="987552"/>
          </a:xfrm>
          <a:prstGeom prst="roundRect">
            <a:avLst>
              <a:gd name="adj" fmla="val 7407"/>
            </a:avLst>
          </a:prstGeom>
          <a:solidFill>
            <a:srgbClr val="FFF7EA"/>
          </a:solidFill>
          <a:ln w="12700">
            <a:solidFill>
              <a:srgbClr val="F59E0B"/>
            </a:solidFill>
            <a:prstDash val="solid"/>
          </a:ln>
        </p:spPr>
      </p:sp>
      <p:sp>
        <p:nvSpPr>
          <p:cNvPr id="13" name="Text 11"/>
          <p:cNvSpPr/>
          <p:nvPr/>
        </p:nvSpPr>
        <p:spPr>
          <a:xfrm>
            <a:off x="8211312" y="2615184"/>
            <a:ext cx="1179576" cy="347472"/>
          </a:xfrm>
          <a:prstGeom prst="rect">
            <a:avLst/>
          </a:prstGeom>
          <a:noFill/>
          <a:ln/>
        </p:spPr>
        <p:txBody>
          <a:bodyPr wrap="square" lIns="0" tIns="0" rIns="0" bIns="0" rtlCol="0" anchor="ctr">
            <a:normAutofit fontScale="92500" lnSpcReduction="10000"/>
          </a:bodyPr>
          <a:lstStyle/>
          <a:p>
            <a:pPr marL="0" indent="0" algn="ctr">
              <a:buNone/>
            </a:pPr>
            <a:r>
              <a:rPr lang="en-US" sz="1300" b="1" dirty="0">
                <a:solidFill>
                  <a:srgbClr val="10233D"/>
                </a:solidFill>
                <a:latin typeface="Georgia" panose="02040502050405020303" pitchFamily="18" charset="0"/>
              </a:rPr>
              <a:t>Hard-negative</a:t>
            </a:r>
            <a:endParaRPr lang="en-US" sz="1300" dirty="0">
              <a:latin typeface="Georgia" panose="02040502050405020303" pitchFamily="18" charset="0"/>
            </a:endParaRPr>
          </a:p>
          <a:p>
            <a:pPr marL="0" indent="0" algn="ctr">
              <a:buNone/>
            </a:pPr>
            <a:r>
              <a:rPr lang="en-US" sz="1300" b="1" dirty="0">
                <a:solidFill>
                  <a:srgbClr val="10233D"/>
                </a:solidFill>
                <a:latin typeface="Georgia" panose="02040502050405020303" pitchFamily="18" charset="0"/>
              </a:rPr>
              <a:t>mining</a:t>
            </a:r>
            <a:endParaRPr lang="en-US" sz="1300" dirty="0">
              <a:latin typeface="Georgia" panose="02040502050405020303" pitchFamily="18" charset="0"/>
            </a:endParaRPr>
          </a:p>
        </p:txBody>
      </p:sp>
      <p:sp>
        <p:nvSpPr>
          <p:cNvPr id="14" name="Shape 12"/>
          <p:cNvSpPr/>
          <p:nvPr/>
        </p:nvSpPr>
        <p:spPr>
          <a:xfrm>
            <a:off x="9875520" y="2331720"/>
            <a:ext cx="1325880" cy="987552"/>
          </a:xfrm>
          <a:prstGeom prst="roundRect">
            <a:avLst>
              <a:gd name="adj" fmla="val 7407"/>
            </a:avLst>
          </a:prstGeom>
          <a:solidFill>
            <a:srgbClr val="FCEEEF"/>
          </a:solidFill>
          <a:ln w="12700">
            <a:solidFill>
              <a:srgbClr val="E85D75"/>
            </a:solidFill>
            <a:prstDash val="solid"/>
          </a:ln>
        </p:spPr>
      </p:sp>
      <p:sp>
        <p:nvSpPr>
          <p:cNvPr id="15" name="Text 13"/>
          <p:cNvSpPr/>
          <p:nvPr/>
        </p:nvSpPr>
        <p:spPr>
          <a:xfrm>
            <a:off x="9948672" y="2615184"/>
            <a:ext cx="1179576" cy="347472"/>
          </a:xfrm>
          <a:prstGeom prst="rect">
            <a:avLst/>
          </a:prstGeom>
          <a:noFill/>
          <a:ln/>
        </p:spPr>
        <p:txBody>
          <a:bodyPr wrap="square" lIns="0" tIns="0" rIns="0" bIns="0" rtlCol="0" anchor="ctr">
            <a:normAutofit fontScale="92500" lnSpcReduction="10000"/>
          </a:bodyPr>
          <a:lstStyle/>
          <a:p>
            <a:pPr marL="0" indent="0" algn="ctr">
              <a:buNone/>
            </a:pPr>
            <a:r>
              <a:rPr lang="en-US" sz="1300" b="1" dirty="0">
                <a:solidFill>
                  <a:srgbClr val="10233D"/>
                </a:solidFill>
                <a:latin typeface="Georgia" panose="02040502050405020303" pitchFamily="18" charset="0"/>
              </a:rPr>
              <a:t>Submission</a:t>
            </a:r>
            <a:endParaRPr lang="en-US" sz="1300" dirty="0">
              <a:latin typeface="Georgia" panose="02040502050405020303" pitchFamily="18" charset="0"/>
            </a:endParaRPr>
          </a:p>
          <a:p>
            <a:pPr marL="0" indent="0" algn="ctr">
              <a:buNone/>
            </a:pPr>
            <a:r>
              <a:rPr lang="en-US" sz="1300" b="1" dirty="0">
                <a:solidFill>
                  <a:srgbClr val="10233D"/>
                </a:solidFill>
                <a:latin typeface="Georgia" panose="02040502050405020303" pitchFamily="18" charset="0"/>
              </a:rPr>
              <a:t>ensemble</a:t>
            </a:r>
            <a:endParaRPr lang="en-US" sz="1300" dirty="0">
              <a:latin typeface="Georgia" panose="02040502050405020303" pitchFamily="18" charset="0"/>
            </a:endParaRPr>
          </a:p>
        </p:txBody>
      </p:sp>
      <p:sp>
        <p:nvSpPr>
          <p:cNvPr id="16" name="Shape 14"/>
          <p:cNvSpPr/>
          <p:nvPr/>
        </p:nvSpPr>
        <p:spPr>
          <a:xfrm>
            <a:off x="8001000" y="4069080"/>
            <a:ext cx="1920240" cy="658368"/>
          </a:xfrm>
          <a:prstGeom prst="roundRect">
            <a:avLst>
              <a:gd name="adj" fmla="val 11111"/>
            </a:avLst>
          </a:prstGeom>
          <a:solidFill>
            <a:srgbClr val="FFFFFF"/>
          </a:solidFill>
          <a:ln w="12700">
            <a:solidFill>
              <a:srgbClr val="D1D5DB"/>
            </a:solidFill>
            <a:prstDash val="solid"/>
          </a:ln>
        </p:spPr>
      </p:sp>
      <p:sp>
        <p:nvSpPr>
          <p:cNvPr id="17" name="Text 15"/>
          <p:cNvSpPr/>
          <p:nvPr/>
        </p:nvSpPr>
        <p:spPr>
          <a:xfrm>
            <a:off x="8001000" y="4123672"/>
            <a:ext cx="1874520" cy="576072"/>
          </a:xfrm>
          <a:prstGeom prst="rect">
            <a:avLst/>
          </a:prstGeom>
          <a:noFill/>
          <a:ln/>
        </p:spPr>
        <p:txBody>
          <a:bodyPr wrap="square" lIns="0" tIns="0" rIns="0" bIns="0" rtlCol="0" anchor="ctr">
            <a:noAutofit/>
          </a:bodyPr>
          <a:lstStyle/>
          <a:p>
            <a:pPr marL="0" indent="0" algn="ctr">
              <a:buNone/>
            </a:pPr>
            <a:r>
              <a:rPr lang="en-US" sz="1300" dirty="0">
                <a:solidFill>
                  <a:srgbClr val="374151"/>
                </a:solidFill>
                <a:latin typeface="Georgia" panose="02040502050405020303" pitchFamily="18" charset="0"/>
              </a:rPr>
              <a:t>Optional generator creates new attack styles</a:t>
            </a:r>
            <a:endParaRPr lang="en-US" sz="1300" dirty="0">
              <a:latin typeface="Georgia" panose="02040502050405020303" pitchFamily="18" charset="0"/>
            </a:endParaRPr>
          </a:p>
        </p:txBody>
      </p:sp>
      <p:sp>
        <p:nvSpPr>
          <p:cNvPr id="18" name="Shape 16"/>
          <p:cNvSpPr/>
          <p:nvPr/>
        </p:nvSpPr>
        <p:spPr>
          <a:xfrm>
            <a:off x="4800600" y="4645152"/>
            <a:ext cx="2743200" cy="786384"/>
          </a:xfrm>
          <a:prstGeom prst="roundRect">
            <a:avLst>
              <a:gd name="adj" fmla="val 9302"/>
            </a:avLst>
          </a:prstGeom>
          <a:solidFill>
            <a:srgbClr val="FFFFFF"/>
          </a:solidFill>
          <a:ln w="12700">
            <a:solidFill>
              <a:srgbClr val="E5E7EB"/>
            </a:solidFill>
            <a:prstDash val="solid"/>
          </a:ln>
          <a:effectLst>
            <a:outerShdw blurRad="10160" dist="2540" dir="2700000" algn="bl" rotWithShape="0">
              <a:srgbClr val="000000">
                <a:alpha val="6000"/>
              </a:srgbClr>
            </a:outerShdw>
          </a:effectLst>
        </p:spPr>
      </p:sp>
      <p:sp>
        <p:nvSpPr>
          <p:cNvPr id="19" name="Text 17"/>
          <p:cNvSpPr/>
          <p:nvPr/>
        </p:nvSpPr>
        <p:spPr>
          <a:xfrm>
            <a:off x="4828032" y="4727448"/>
            <a:ext cx="2715767" cy="500160"/>
          </a:xfrm>
          <a:prstGeom prst="rect">
            <a:avLst/>
          </a:prstGeom>
          <a:noFill/>
          <a:ln/>
        </p:spPr>
        <p:txBody>
          <a:bodyPr wrap="square" lIns="0" tIns="0" rIns="0" bIns="0" rtlCol="0" anchor="ctr">
            <a:noAutofit/>
          </a:bodyPr>
          <a:lstStyle/>
          <a:p>
            <a:pPr marL="0" indent="0" algn="ctr">
              <a:buNone/>
            </a:pPr>
            <a:r>
              <a:rPr lang="en-US" sz="1300" dirty="0">
                <a:solidFill>
                  <a:srgbClr val="374151"/>
                </a:solidFill>
                <a:latin typeface="Georgia" panose="02040502050405020303" pitchFamily="18" charset="0"/>
              </a:rPr>
              <a:t>Use generator outputs as hard negatives, not just as a second track.</a:t>
            </a:r>
            <a:endParaRPr lang="en-US" sz="1300" dirty="0">
              <a:latin typeface="Georgia" panose="02040502050405020303" pitchFamily="18" charset="0"/>
            </a:endParaRPr>
          </a:p>
        </p:txBody>
      </p:sp>
      <p:sp>
        <p:nvSpPr>
          <p:cNvPr id="20" name="Text 18"/>
          <p:cNvSpPr/>
          <p:nvPr/>
        </p:nvSpPr>
        <p:spPr>
          <a:xfrm>
            <a:off x="11612880" y="6574536"/>
            <a:ext cx="274320" cy="146304"/>
          </a:xfrm>
          <a:prstGeom prst="rect">
            <a:avLst/>
          </a:prstGeom>
          <a:noFill/>
          <a:ln/>
        </p:spPr>
        <p:txBody>
          <a:bodyPr wrap="square" lIns="0" tIns="0" rIns="0" bIns="0" rtlCol="0" anchor="ctr"/>
          <a:lstStyle/>
          <a:p>
            <a:pPr marL="0" indent="0" algn="r">
              <a:buNone/>
            </a:pPr>
            <a:r>
              <a:rPr lang="en-US" sz="900" dirty="0">
                <a:solidFill>
                  <a:srgbClr val="6B7280"/>
                </a:solidFill>
              </a:rPr>
              <a:t>6</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10896"/>
            <a:ext cx="7863840" cy="411480"/>
          </a:xfrm>
          <a:prstGeom prst="rect">
            <a:avLst/>
          </a:prstGeom>
          <a:noFill/>
          <a:ln/>
        </p:spPr>
        <p:txBody>
          <a:bodyPr wrap="square" lIns="0" tIns="0" rIns="0" bIns="0" rtlCol="0" anchor="ctr"/>
          <a:lstStyle/>
          <a:p>
            <a:pPr marL="0" indent="0">
              <a:buNone/>
            </a:pPr>
            <a:r>
              <a:rPr lang="en-US" sz="2300" b="1" dirty="0">
                <a:solidFill>
                  <a:srgbClr val="10233D"/>
                </a:solidFill>
                <a:latin typeface="Georgia" panose="02040502050405020303" pitchFamily="18" charset="0"/>
                <a:ea typeface="Aptos Display" pitchFamily="34" charset="-122"/>
                <a:cs typeface="Aptos Display" pitchFamily="34" charset="-120"/>
              </a:rPr>
              <a:t>Training stack and validation plan</a:t>
            </a:r>
            <a:endParaRPr lang="en-US" sz="2300" dirty="0">
              <a:latin typeface="Georgia" panose="02040502050405020303" pitchFamily="18" charset="0"/>
            </a:endParaRPr>
          </a:p>
        </p:txBody>
      </p:sp>
      <p:sp>
        <p:nvSpPr>
          <p:cNvPr id="3" name="Text 1"/>
          <p:cNvSpPr/>
          <p:nvPr/>
        </p:nvSpPr>
        <p:spPr>
          <a:xfrm>
            <a:off x="512064" y="822960"/>
            <a:ext cx="7498080" cy="210312"/>
          </a:xfrm>
          <a:prstGeom prst="rect">
            <a:avLst/>
          </a:prstGeom>
          <a:noFill/>
          <a:ln/>
        </p:spPr>
        <p:txBody>
          <a:bodyPr wrap="square" lIns="0" tIns="0" rIns="0" bIns="0" rtlCol="0" anchor="ctr"/>
          <a:lstStyle/>
          <a:p>
            <a:pPr marL="0" indent="0">
              <a:buNone/>
            </a:pPr>
            <a:r>
              <a:rPr lang="en-US" sz="1600" dirty="0">
                <a:solidFill>
                  <a:srgbClr val="4B5563"/>
                </a:solidFill>
                <a:latin typeface="Georgia" panose="02040502050405020303" pitchFamily="18" charset="0"/>
              </a:rPr>
              <a:t>How to turn public datasets into a competition-ready system</a:t>
            </a:r>
            <a:endParaRPr lang="en-US" sz="1600" dirty="0">
              <a:latin typeface="Georgia" panose="02040502050405020303" pitchFamily="18" charset="0"/>
            </a:endParaRPr>
          </a:p>
        </p:txBody>
      </p:sp>
      <p:sp>
        <p:nvSpPr>
          <p:cNvPr id="4" name="Shape 2"/>
          <p:cNvSpPr/>
          <p:nvPr/>
        </p:nvSpPr>
        <p:spPr>
          <a:xfrm>
            <a:off x="640080" y="1234440"/>
            <a:ext cx="3520440" cy="4389120"/>
          </a:xfrm>
          <a:prstGeom prst="roundRect">
            <a:avLst>
              <a:gd name="adj" fmla="val 2078"/>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5" name="Shape 3"/>
          <p:cNvSpPr/>
          <p:nvPr/>
        </p:nvSpPr>
        <p:spPr>
          <a:xfrm>
            <a:off x="640080" y="1234440"/>
            <a:ext cx="73152" cy="4389120"/>
          </a:xfrm>
          <a:prstGeom prst="rect">
            <a:avLst/>
          </a:prstGeom>
          <a:solidFill>
            <a:srgbClr val="5FA4E8"/>
          </a:solidFill>
          <a:ln w="12700">
            <a:solidFill>
              <a:srgbClr val="5FA4E8"/>
            </a:solidFill>
            <a:prstDash val="solid"/>
          </a:ln>
        </p:spPr>
      </p:sp>
      <p:sp>
        <p:nvSpPr>
          <p:cNvPr id="6" name="Text 4"/>
          <p:cNvSpPr/>
          <p:nvPr/>
        </p:nvSpPr>
        <p:spPr>
          <a:xfrm>
            <a:off x="804672" y="1380744"/>
            <a:ext cx="3246120" cy="256032"/>
          </a:xfrm>
          <a:prstGeom prst="rect">
            <a:avLst/>
          </a:prstGeom>
          <a:noFill/>
          <a:ln/>
        </p:spPr>
        <p:txBody>
          <a:bodyPr wrap="square" lIns="0" tIns="0" rIns="0" bIns="0" rtlCol="0" anchor="ctr"/>
          <a:lstStyle/>
          <a:p>
            <a:pPr marL="0" indent="0">
              <a:buNone/>
            </a:pPr>
            <a:r>
              <a:rPr lang="en-US" sz="1550" b="1" dirty="0">
                <a:solidFill>
                  <a:srgbClr val="10233D"/>
                </a:solidFill>
                <a:latin typeface="Georgia" panose="02040502050405020303" pitchFamily="18" charset="0"/>
              </a:rPr>
              <a:t>Data strategy</a:t>
            </a:r>
            <a:endParaRPr lang="en-US" sz="1550" dirty="0">
              <a:latin typeface="Georgia" panose="02040502050405020303" pitchFamily="18" charset="0"/>
            </a:endParaRPr>
          </a:p>
        </p:txBody>
      </p:sp>
      <p:sp>
        <p:nvSpPr>
          <p:cNvPr id="7" name="Text 5"/>
          <p:cNvSpPr/>
          <p:nvPr/>
        </p:nvSpPr>
        <p:spPr>
          <a:xfrm>
            <a:off x="804672" y="1737360"/>
            <a:ext cx="3227832" cy="3730752"/>
          </a:xfrm>
          <a:prstGeom prst="rect">
            <a:avLst/>
          </a:prstGeom>
          <a:noFill/>
          <a:ln/>
        </p:spPr>
        <p:txBody>
          <a:bodyPr wrap="square" lIns="508" tIns="508" rIns="508" bIns="508" rtlCol="0" anchor="t">
            <a:normAutofit/>
          </a:bodyPr>
          <a:lstStyle/>
          <a:p>
            <a:pPr marL="177800" indent="-177800" algn="just">
              <a:buSzPct val="100000"/>
              <a:buChar char="•"/>
            </a:pPr>
            <a:r>
              <a:rPr lang="en-US" sz="1400" dirty="0">
                <a:solidFill>
                  <a:srgbClr val="374151"/>
                </a:solidFill>
                <a:latin typeface="Georgia" panose="02040502050405020303" pitchFamily="18" charset="0"/>
              </a:rPr>
              <a:t>Mix datasets by source and generator family instead of concatenating blindly.</a:t>
            </a:r>
          </a:p>
          <a:p>
            <a:pPr marL="177800" indent="-177800" algn="just">
              <a:buSzPct val="100000"/>
              <a:buChar char="•"/>
            </a:pPr>
            <a:endParaRPr lang="en-US" sz="1400" dirty="0">
              <a:latin typeface="Georgia" panose="02040502050405020303" pitchFamily="18" charset="0"/>
            </a:endParaRPr>
          </a:p>
          <a:p>
            <a:pPr marL="177800" indent="-177800" algn="just">
              <a:buSzPct val="100000"/>
              <a:buChar char="•"/>
            </a:pPr>
            <a:r>
              <a:rPr lang="en-US" sz="1400" dirty="0">
                <a:solidFill>
                  <a:srgbClr val="374151"/>
                </a:solidFill>
                <a:latin typeface="Georgia" panose="02040502050405020303" pitchFamily="18" charset="0"/>
              </a:rPr>
              <a:t>Balance quality levels, codecs, accents, speakers, and demographics as much as possible.</a:t>
            </a:r>
          </a:p>
          <a:p>
            <a:pPr marL="177800" indent="-177800" algn="just">
              <a:buSzPct val="100000"/>
              <a:buChar char="•"/>
            </a:pPr>
            <a:endParaRPr lang="en-US" sz="1400" dirty="0">
              <a:latin typeface="Georgia" panose="02040502050405020303" pitchFamily="18" charset="0"/>
            </a:endParaRPr>
          </a:p>
          <a:p>
            <a:pPr marL="177800" indent="-177800" algn="just">
              <a:buSzPct val="100000"/>
              <a:buChar char="•"/>
            </a:pPr>
            <a:r>
              <a:rPr lang="en-US" sz="1400" dirty="0">
                <a:solidFill>
                  <a:srgbClr val="374151"/>
                </a:solidFill>
                <a:latin typeface="Georgia" panose="02040502050405020303" pitchFamily="18" charset="0"/>
              </a:rPr>
              <a:t>For detection, reserve an internal “unknown generator” validation split.</a:t>
            </a:r>
            <a:endParaRPr lang="en-US" sz="1400" dirty="0">
              <a:latin typeface="Georgia" panose="02040502050405020303" pitchFamily="18" charset="0"/>
            </a:endParaRPr>
          </a:p>
        </p:txBody>
      </p:sp>
      <p:sp>
        <p:nvSpPr>
          <p:cNvPr id="8" name="Shape 6"/>
          <p:cNvSpPr/>
          <p:nvPr/>
        </p:nvSpPr>
        <p:spPr>
          <a:xfrm>
            <a:off x="4343400" y="1234440"/>
            <a:ext cx="3520440" cy="4389120"/>
          </a:xfrm>
          <a:prstGeom prst="roundRect">
            <a:avLst>
              <a:gd name="adj" fmla="val 2078"/>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9" name="Shape 7"/>
          <p:cNvSpPr/>
          <p:nvPr/>
        </p:nvSpPr>
        <p:spPr>
          <a:xfrm>
            <a:off x="4343400" y="1234440"/>
            <a:ext cx="73152" cy="4389120"/>
          </a:xfrm>
          <a:prstGeom prst="rect">
            <a:avLst/>
          </a:prstGeom>
          <a:solidFill>
            <a:srgbClr val="F59E0B"/>
          </a:solidFill>
          <a:ln w="12700">
            <a:solidFill>
              <a:srgbClr val="F59E0B"/>
            </a:solidFill>
            <a:prstDash val="solid"/>
          </a:ln>
        </p:spPr>
      </p:sp>
      <p:sp>
        <p:nvSpPr>
          <p:cNvPr id="10" name="Text 8"/>
          <p:cNvSpPr/>
          <p:nvPr/>
        </p:nvSpPr>
        <p:spPr>
          <a:xfrm>
            <a:off x="4507992" y="1380744"/>
            <a:ext cx="3246120" cy="256032"/>
          </a:xfrm>
          <a:prstGeom prst="rect">
            <a:avLst/>
          </a:prstGeom>
          <a:noFill/>
          <a:ln/>
        </p:spPr>
        <p:txBody>
          <a:bodyPr wrap="square" lIns="0" tIns="0" rIns="0" bIns="0" rtlCol="0" anchor="ctr"/>
          <a:lstStyle/>
          <a:p>
            <a:pPr marL="0" indent="0">
              <a:buNone/>
            </a:pPr>
            <a:r>
              <a:rPr lang="en-US" sz="1550" b="1" dirty="0">
                <a:solidFill>
                  <a:srgbClr val="10233D"/>
                </a:solidFill>
                <a:latin typeface="Georgia" panose="02040502050405020303" pitchFamily="18" charset="0"/>
              </a:rPr>
              <a:t>Validation strategy</a:t>
            </a:r>
            <a:endParaRPr lang="en-US" sz="1550" dirty="0">
              <a:latin typeface="Georgia" panose="02040502050405020303" pitchFamily="18" charset="0"/>
            </a:endParaRPr>
          </a:p>
        </p:txBody>
      </p:sp>
      <p:sp>
        <p:nvSpPr>
          <p:cNvPr id="11" name="Text 9"/>
          <p:cNvSpPr/>
          <p:nvPr/>
        </p:nvSpPr>
        <p:spPr>
          <a:xfrm>
            <a:off x="4507992" y="1737360"/>
            <a:ext cx="3227832" cy="3730752"/>
          </a:xfrm>
          <a:prstGeom prst="rect">
            <a:avLst/>
          </a:prstGeom>
          <a:noFill/>
          <a:ln/>
        </p:spPr>
        <p:txBody>
          <a:bodyPr wrap="square" lIns="508" tIns="508" rIns="508" bIns="508" rtlCol="0" anchor="t">
            <a:normAutofit/>
          </a:bodyPr>
          <a:lstStyle/>
          <a:p>
            <a:pPr marL="177800" indent="-177800" algn="just">
              <a:buSzPct val="100000"/>
              <a:buChar char="•"/>
            </a:pPr>
            <a:r>
              <a:rPr lang="en-US" sz="1400" dirty="0">
                <a:solidFill>
                  <a:srgbClr val="374151"/>
                </a:solidFill>
                <a:latin typeface="Georgia" panose="02040502050405020303" pitchFamily="18" charset="0"/>
              </a:rPr>
              <a:t>Use leave-one-dataset-out or leave-one-generator-family-out testing.</a:t>
            </a:r>
          </a:p>
          <a:p>
            <a:pPr marL="177800" indent="-177800" algn="just">
              <a:buSzPct val="100000"/>
              <a:buChar char="•"/>
            </a:pPr>
            <a:endParaRPr lang="en-US" sz="1400" dirty="0">
              <a:latin typeface="Georgia" panose="02040502050405020303" pitchFamily="18" charset="0"/>
            </a:endParaRPr>
          </a:p>
          <a:p>
            <a:pPr marL="177800" indent="-177800" algn="just">
              <a:buSzPct val="100000"/>
              <a:buChar char="•"/>
            </a:pPr>
            <a:r>
              <a:rPr lang="en-US" sz="1400" dirty="0">
                <a:solidFill>
                  <a:srgbClr val="374151"/>
                </a:solidFill>
                <a:latin typeface="Georgia" panose="02040502050405020303" pitchFamily="18" charset="0"/>
              </a:rPr>
              <a:t>Track not only F1 but also confidence calibration and worst-group performance.</a:t>
            </a:r>
          </a:p>
          <a:p>
            <a:pPr marL="177800" indent="-177800" algn="just">
              <a:buSzPct val="100000"/>
              <a:buChar char="•"/>
            </a:pPr>
            <a:endParaRPr lang="en-US" sz="1400" dirty="0">
              <a:latin typeface="Georgia" panose="02040502050405020303" pitchFamily="18" charset="0"/>
            </a:endParaRPr>
          </a:p>
          <a:p>
            <a:pPr marL="177800" indent="-177800" algn="just">
              <a:buSzPct val="100000"/>
              <a:buChar char="•"/>
            </a:pPr>
            <a:r>
              <a:rPr lang="en-US" sz="1400" dirty="0">
                <a:solidFill>
                  <a:srgbClr val="374151"/>
                </a:solidFill>
                <a:latin typeface="Georgia" panose="02040502050405020303" pitchFamily="18" charset="0"/>
              </a:rPr>
              <a:t>Inspect false positives on real samples carefully - they often reduce model performance.</a:t>
            </a:r>
            <a:endParaRPr lang="en-US" sz="1400" dirty="0">
              <a:latin typeface="Georgia" panose="02040502050405020303" pitchFamily="18" charset="0"/>
            </a:endParaRPr>
          </a:p>
        </p:txBody>
      </p:sp>
      <p:sp>
        <p:nvSpPr>
          <p:cNvPr id="12" name="Shape 10"/>
          <p:cNvSpPr/>
          <p:nvPr/>
        </p:nvSpPr>
        <p:spPr>
          <a:xfrm>
            <a:off x="8046720" y="1234440"/>
            <a:ext cx="3520440" cy="4389120"/>
          </a:xfrm>
          <a:prstGeom prst="roundRect">
            <a:avLst>
              <a:gd name="adj" fmla="val 2078"/>
            </a:avLst>
          </a:prstGeom>
          <a:solidFill>
            <a:srgbClr val="FFFFFF"/>
          </a:solidFill>
          <a:ln w="12700">
            <a:solidFill>
              <a:srgbClr val="E5E7EB"/>
            </a:solidFill>
            <a:prstDash val="solid"/>
          </a:ln>
          <a:effectLst>
            <a:outerShdw blurRad="19050" dist="6350" dir="2700000" algn="bl" rotWithShape="0">
              <a:srgbClr val="000000">
                <a:alpha val="12000"/>
              </a:srgbClr>
            </a:outerShdw>
          </a:effectLst>
        </p:spPr>
      </p:sp>
      <p:sp>
        <p:nvSpPr>
          <p:cNvPr id="13" name="Shape 11"/>
          <p:cNvSpPr/>
          <p:nvPr/>
        </p:nvSpPr>
        <p:spPr>
          <a:xfrm>
            <a:off x="8046720" y="1234440"/>
            <a:ext cx="73152" cy="4389120"/>
          </a:xfrm>
          <a:prstGeom prst="rect">
            <a:avLst/>
          </a:prstGeom>
          <a:solidFill>
            <a:srgbClr val="0EA5E9"/>
          </a:solidFill>
          <a:ln w="12700">
            <a:solidFill>
              <a:srgbClr val="0EA5E9"/>
            </a:solidFill>
            <a:prstDash val="solid"/>
          </a:ln>
        </p:spPr>
      </p:sp>
      <p:sp>
        <p:nvSpPr>
          <p:cNvPr id="14" name="Text 12"/>
          <p:cNvSpPr/>
          <p:nvPr/>
        </p:nvSpPr>
        <p:spPr>
          <a:xfrm>
            <a:off x="8211312" y="1380744"/>
            <a:ext cx="3246120" cy="256032"/>
          </a:xfrm>
          <a:prstGeom prst="rect">
            <a:avLst/>
          </a:prstGeom>
          <a:noFill/>
          <a:ln/>
        </p:spPr>
        <p:txBody>
          <a:bodyPr wrap="square" lIns="0" tIns="0" rIns="0" bIns="0" rtlCol="0" anchor="ctr"/>
          <a:lstStyle/>
          <a:p>
            <a:pPr marL="0" indent="0">
              <a:buNone/>
            </a:pPr>
            <a:r>
              <a:rPr lang="en-US" sz="1550" b="1" dirty="0">
                <a:solidFill>
                  <a:srgbClr val="10233D"/>
                </a:solidFill>
                <a:latin typeface="Georgia" panose="02040502050405020303" pitchFamily="18" charset="0"/>
              </a:rPr>
              <a:t>Ablation strategy</a:t>
            </a:r>
            <a:endParaRPr lang="en-US" sz="1550" dirty="0">
              <a:latin typeface="Georgia" panose="02040502050405020303" pitchFamily="18" charset="0"/>
            </a:endParaRPr>
          </a:p>
        </p:txBody>
      </p:sp>
      <p:sp>
        <p:nvSpPr>
          <p:cNvPr id="15" name="Text 13"/>
          <p:cNvSpPr/>
          <p:nvPr/>
        </p:nvSpPr>
        <p:spPr>
          <a:xfrm>
            <a:off x="8211312" y="1737360"/>
            <a:ext cx="3227832" cy="3730752"/>
          </a:xfrm>
          <a:prstGeom prst="rect">
            <a:avLst/>
          </a:prstGeom>
          <a:noFill/>
          <a:ln/>
        </p:spPr>
        <p:txBody>
          <a:bodyPr wrap="square" lIns="508" tIns="508" rIns="508" bIns="508" rtlCol="0" anchor="t">
            <a:normAutofit/>
          </a:bodyPr>
          <a:lstStyle/>
          <a:p>
            <a:pPr marL="177800" indent="-177800" algn="just">
              <a:buSzPct val="100000"/>
              <a:buChar char="•"/>
            </a:pPr>
            <a:r>
              <a:rPr lang="en-US" sz="1400" dirty="0">
                <a:solidFill>
                  <a:srgbClr val="374151"/>
                </a:solidFill>
                <a:latin typeface="Georgia" panose="02040502050405020303" pitchFamily="18" charset="0"/>
              </a:rPr>
              <a:t>Test each stream separately: RGB only, frequency only, SSL audio only, ensemble only.</a:t>
            </a:r>
          </a:p>
          <a:p>
            <a:pPr marL="177800" indent="-177800" algn="just">
              <a:buSzPct val="100000"/>
              <a:buChar char="•"/>
            </a:pPr>
            <a:endParaRPr lang="en-US" sz="1400" dirty="0">
              <a:latin typeface="Georgia" panose="02040502050405020303" pitchFamily="18" charset="0"/>
            </a:endParaRPr>
          </a:p>
          <a:p>
            <a:pPr marL="177800" indent="-177800" algn="just">
              <a:buSzPct val="100000"/>
              <a:buChar char="•"/>
            </a:pPr>
            <a:r>
              <a:rPr lang="en-US" sz="1400" dirty="0">
                <a:solidFill>
                  <a:srgbClr val="374151"/>
                </a:solidFill>
                <a:latin typeface="Georgia" panose="02040502050405020303" pitchFamily="18" charset="0"/>
              </a:rPr>
              <a:t>Measure the benefit of hard negatives, TTA, and calibration.</a:t>
            </a:r>
          </a:p>
          <a:p>
            <a:pPr marL="177800" indent="-177800" algn="just">
              <a:buSzPct val="100000"/>
              <a:buChar char="•"/>
            </a:pPr>
            <a:endParaRPr lang="en-US" sz="1400" dirty="0">
              <a:latin typeface="Georgia" panose="02040502050405020303" pitchFamily="18" charset="0"/>
            </a:endParaRPr>
          </a:p>
          <a:p>
            <a:pPr marL="177800" indent="-177800" algn="just">
              <a:buSzPct val="100000"/>
              <a:buChar char="•"/>
            </a:pPr>
            <a:r>
              <a:rPr lang="en-US" sz="1400" dirty="0">
                <a:solidFill>
                  <a:srgbClr val="374151"/>
                </a:solidFill>
                <a:latin typeface="Georgia" panose="02040502050405020303" pitchFamily="18" charset="0"/>
              </a:rPr>
              <a:t>Keep the final ensemble small enough to reproduce reliably under deadline pressure.</a:t>
            </a:r>
            <a:endParaRPr lang="en-US" sz="1400" dirty="0">
              <a:latin typeface="Georgia" panose="02040502050405020303" pitchFamily="18" charset="0"/>
            </a:endParaRPr>
          </a:p>
        </p:txBody>
      </p:sp>
      <p:sp>
        <p:nvSpPr>
          <p:cNvPr id="16" name="Text 14"/>
          <p:cNvSpPr/>
          <p:nvPr/>
        </p:nvSpPr>
        <p:spPr>
          <a:xfrm>
            <a:off x="11612880" y="6574536"/>
            <a:ext cx="274320" cy="146304"/>
          </a:xfrm>
          <a:prstGeom prst="rect">
            <a:avLst/>
          </a:prstGeom>
          <a:noFill/>
          <a:ln/>
        </p:spPr>
        <p:txBody>
          <a:bodyPr wrap="square" lIns="0" tIns="0" rIns="0" bIns="0" rtlCol="0" anchor="ctr"/>
          <a:lstStyle/>
          <a:p>
            <a:pPr marL="0" indent="0" algn="r">
              <a:buNone/>
            </a:pPr>
            <a:r>
              <a:rPr lang="en-US" sz="900" dirty="0">
                <a:solidFill>
                  <a:srgbClr val="6B7280"/>
                </a:solidFill>
              </a:rPr>
              <a:t>9</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10896"/>
            <a:ext cx="7863840" cy="411480"/>
          </a:xfrm>
          <a:prstGeom prst="rect">
            <a:avLst/>
          </a:prstGeom>
          <a:noFill/>
          <a:ln/>
        </p:spPr>
        <p:txBody>
          <a:bodyPr wrap="square" lIns="0" tIns="0" rIns="0" bIns="0" rtlCol="0" anchor="ctr"/>
          <a:lstStyle/>
          <a:p>
            <a:pPr marL="0" indent="0">
              <a:buNone/>
            </a:pPr>
            <a:r>
              <a:rPr lang="en-US" sz="2300" b="1" dirty="0">
                <a:solidFill>
                  <a:srgbClr val="10233D"/>
                </a:solidFill>
                <a:latin typeface="Georgia" panose="02040502050405020303" pitchFamily="18" charset="0"/>
                <a:ea typeface="Aptos Display" pitchFamily="34" charset="-122"/>
                <a:cs typeface="Aptos Display" pitchFamily="34" charset="-120"/>
              </a:rPr>
              <a:t>Execution roadmap and final takeaways</a:t>
            </a:r>
            <a:endParaRPr lang="en-US" sz="2300" dirty="0">
              <a:latin typeface="Georgia" panose="02040502050405020303" pitchFamily="18" charset="0"/>
            </a:endParaRPr>
          </a:p>
        </p:txBody>
      </p:sp>
      <p:sp>
        <p:nvSpPr>
          <p:cNvPr id="4" name="Shape 2"/>
          <p:cNvSpPr/>
          <p:nvPr/>
        </p:nvSpPr>
        <p:spPr>
          <a:xfrm>
            <a:off x="749808" y="1325880"/>
            <a:ext cx="1005840" cy="512064"/>
          </a:xfrm>
          <a:prstGeom prst="roundRect">
            <a:avLst>
              <a:gd name="adj" fmla="val 10714"/>
            </a:avLst>
          </a:prstGeom>
          <a:solidFill>
            <a:srgbClr val="2E6BB0"/>
          </a:solidFill>
          <a:ln w="12700">
            <a:solidFill>
              <a:srgbClr val="2E6BB0"/>
            </a:solidFill>
            <a:prstDash val="solid"/>
          </a:ln>
        </p:spPr>
      </p:sp>
      <p:sp>
        <p:nvSpPr>
          <p:cNvPr id="5" name="Text 3"/>
          <p:cNvSpPr/>
          <p:nvPr/>
        </p:nvSpPr>
        <p:spPr>
          <a:xfrm>
            <a:off x="868680" y="1472184"/>
            <a:ext cx="768096" cy="146304"/>
          </a:xfrm>
          <a:prstGeom prst="rect">
            <a:avLst/>
          </a:prstGeom>
          <a:noFill/>
          <a:ln/>
        </p:spPr>
        <p:txBody>
          <a:bodyPr wrap="square" lIns="0" tIns="0" rIns="0" bIns="0" rtlCol="0" anchor="ctr"/>
          <a:lstStyle/>
          <a:p>
            <a:pPr marL="0" indent="0" algn="ctr">
              <a:buNone/>
            </a:pPr>
            <a:r>
              <a:rPr lang="en-US" sz="1280" b="1" dirty="0">
                <a:solidFill>
                  <a:srgbClr val="FFFFFF"/>
                </a:solidFill>
                <a:latin typeface="Georgia" panose="02040502050405020303" pitchFamily="18" charset="0"/>
              </a:rPr>
              <a:t>Stage 1</a:t>
            </a:r>
            <a:endParaRPr lang="en-US" sz="1280" dirty="0">
              <a:latin typeface="Georgia" panose="02040502050405020303" pitchFamily="18" charset="0"/>
            </a:endParaRPr>
          </a:p>
        </p:txBody>
      </p:sp>
      <p:sp>
        <p:nvSpPr>
          <p:cNvPr id="6" name="Shape 4"/>
          <p:cNvSpPr/>
          <p:nvPr/>
        </p:nvSpPr>
        <p:spPr>
          <a:xfrm>
            <a:off x="1920240" y="1325880"/>
            <a:ext cx="4800600" cy="512064"/>
          </a:xfrm>
          <a:prstGeom prst="roundRect">
            <a:avLst>
              <a:gd name="adj" fmla="val 10714"/>
            </a:avLst>
          </a:prstGeom>
          <a:solidFill>
            <a:srgbClr val="FFFFFF"/>
          </a:solidFill>
          <a:ln w="12700">
            <a:solidFill>
              <a:srgbClr val="E5E7EB"/>
            </a:solidFill>
            <a:prstDash val="solid"/>
          </a:ln>
        </p:spPr>
      </p:sp>
      <p:sp>
        <p:nvSpPr>
          <p:cNvPr id="7" name="Text 5"/>
          <p:cNvSpPr/>
          <p:nvPr/>
        </p:nvSpPr>
        <p:spPr>
          <a:xfrm>
            <a:off x="2121408" y="1463040"/>
            <a:ext cx="4389120" cy="164592"/>
          </a:xfrm>
          <a:prstGeom prst="rect">
            <a:avLst/>
          </a:prstGeom>
          <a:noFill/>
          <a:ln/>
        </p:spPr>
        <p:txBody>
          <a:bodyPr wrap="square" lIns="0" tIns="0" rIns="0" bIns="0" rtlCol="0" anchor="ctr">
            <a:noAutofit/>
          </a:bodyPr>
          <a:lstStyle/>
          <a:p>
            <a:pPr marL="0" indent="0">
              <a:buNone/>
            </a:pPr>
            <a:r>
              <a:rPr lang="en-US" sz="1300" dirty="0">
                <a:solidFill>
                  <a:srgbClr val="374151"/>
                </a:solidFill>
                <a:latin typeface="Georgia" panose="02040502050405020303" pitchFamily="18" charset="0"/>
              </a:rPr>
              <a:t>Read rules, choose track, build data list, set up baselines</a:t>
            </a:r>
            <a:endParaRPr lang="en-US" sz="1300" dirty="0">
              <a:latin typeface="Georgia" panose="02040502050405020303" pitchFamily="18" charset="0"/>
            </a:endParaRPr>
          </a:p>
        </p:txBody>
      </p:sp>
      <p:sp>
        <p:nvSpPr>
          <p:cNvPr id="8" name="Shape 6"/>
          <p:cNvSpPr/>
          <p:nvPr/>
        </p:nvSpPr>
        <p:spPr>
          <a:xfrm>
            <a:off x="749808" y="2048256"/>
            <a:ext cx="1005840" cy="512064"/>
          </a:xfrm>
          <a:prstGeom prst="roundRect">
            <a:avLst>
              <a:gd name="adj" fmla="val 10714"/>
            </a:avLst>
          </a:prstGeom>
          <a:solidFill>
            <a:srgbClr val="EDF6FF"/>
          </a:solidFill>
          <a:ln w="12700">
            <a:solidFill>
              <a:srgbClr val="EDF6FF"/>
            </a:solidFill>
            <a:prstDash val="solid"/>
          </a:ln>
        </p:spPr>
      </p:sp>
      <p:sp>
        <p:nvSpPr>
          <p:cNvPr id="9" name="Text 7"/>
          <p:cNvSpPr/>
          <p:nvPr/>
        </p:nvSpPr>
        <p:spPr>
          <a:xfrm>
            <a:off x="868680" y="2194560"/>
            <a:ext cx="768096" cy="146304"/>
          </a:xfrm>
          <a:prstGeom prst="rect">
            <a:avLst/>
          </a:prstGeom>
          <a:noFill/>
          <a:ln/>
        </p:spPr>
        <p:txBody>
          <a:bodyPr wrap="square" lIns="0" tIns="0" rIns="0" bIns="0" rtlCol="0" anchor="ctr"/>
          <a:lstStyle/>
          <a:p>
            <a:pPr marL="0" indent="0" algn="ctr">
              <a:buNone/>
            </a:pPr>
            <a:r>
              <a:rPr lang="en-US" sz="1280" b="1" dirty="0">
                <a:solidFill>
                  <a:srgbClr val="2E6BB0"/>
                </a:solidFill>
                <a:latin typeface="Georgia" panose="02040502050405020303" pitchFamily="18" charset="0"/>
              </a:rPr>
              <a:t>Stage 2-3</a:t>
            </a:r>
            <a:endParaRPr lang="en-US" sz="1280" dirty="0">
              <a:latin typeface="Georgia" panose="02040502050405020303" pitchFamily="18" charset="0"/>
            </a:endParaRPr>
          </a:p>
        </p:txBody>
      </p:sp>
      <p:sp>
        <p:nvSpPr>
          <p:cNvPr id="10" name="Shape 8"/>
          <p:cNvSpPr/>
          <p:nvPr/>
        </p:nvSpPr>
        <p:spPr>
          <a:xfrm>
            <a:off x="1920240" y="2048256"/>
            <a:ext cx="4800600" cy="512064"/>
          </a:xfrm>
          <a:prstGeom prst="roundRect">
            <a:avLst>
              <a:gd name="adj" fmla="val 10714"/>
            </a:avLst>
          </a:prstGeom>
          <a:solidFill>
            <a:srgbClr val="FFFFFF"/>
          </a:solidFill>
          <a:ln w="12700">
            <a:solidFill>
              <a:srgbClr val="E5E7EB"/>
            </a:solidFill>
            <a:prstDash val="solid"/>
          </a:ln>
        </p:spPr>
      </p:sp>
      <p:sp>
        <p:nvSpPr>
          <p:cNvPr id="11" name="Text 9"/>
          <p:cNvSpPr/>
          <p:nvPr/>
        </p:nvSpPr>
        <p:spPr>
          <a:xfrm>
            <a:off x="2121408" y="2185416"/>
            <a:ext cx="4389120" cy="164592"/>
          </a:xfrm>
          <a:prstGeom prst="rect">
            <a:avLst/>
          </a:prstGeom>
          <a:noFill/>
          <a:ln/>
        </p:spPr>
        <p:txBody>
          <a:bodyPr wrap="square" lIns="0" tIns="0" rIns="0" bIns="0" rtlCol="0" anchor="ctr">
            <a:noAutofit/>
          </a:bodyPr>
          <a:lstStyle/>
          <a:p>
            <a:pPr marL="0" indent="0">
              <a:buNone/>
            </a:pPr>
            <a:r>
              <a:rPr lang="en-US" sz="1300" dirty="0">
                <a:solidFill>
                  <a:srgbClr val="374151"/>
                </a:solidFill>
                <a:latin typeface="Georgia" panose="02040502050405020303" pitchFamily="18" charset="0"/>
              </a:rPr>
              <a:t>Train unimodal detection baselines on public datasets</a:t>
            </a:r>
            <a:endParaRPr lang="en-US" sz="1300" dirty="0">
              <a:latin typeface="Georgia" panose="02040502050405020303" pitchFamily="18" charset="0"/>
            </a:endParaRPr>
          </a:p>
        </p:txBody>
      </p:sp>
      <p:sp>
        <p:nvSpPr>
          <p:cNvPr id="12" name="Shape 10"/>
          <p:cNvSpPr/>
          <p:nvPr/>
        </p:nvSpPr>
        <p:spPr>
          <a:xfrm>
            <a:off x="749808" y="2770632"/>
            <a:ext cx="1005840" cy="512064"/>
          </a:xfrm>
          <a:prstGeom prst="roundRect">
            <a:avLst>
              <a:gd name="adj" fmla="val 10714"/>
            </a:avLst>
          </a:prstGeom>
          <a:solidFill>
            <a:srgbClr val="EDF6FF"/>
          </a:solidFill>
          <a:ln w="12700">
            <a:solidFill>
              <a:srgbClr val="EDF6FF"/>
            </a:solidFill>
            <a:prstDash val="solid"/>
          </a:ln>
        </p:spPr>
      </p:sp>
      <p:sp>
        <p:nvSpPr>
          <p:cNvPr id="13" name="Text 11"/>
          <p:cNvSpPr/>
          <p:nvPr/>
        </p:nvSpPr>
        <p:spPr>
          <a:xfrm>
            <a:off x="868680" y="2916936"/>
            <a:ext cx="768096" cy="146304"/>
          </a:xfrm>
          <a:prstGeom prst="rect">
            <a:avLst/>
          </a:prstGeom>
          <a:noFill/>
          <a:ln/>
        </p:spPr>
        <p:txBody>
          <a:bodyPr wrap="square" lIns="0" tIns="0" rIns="0" bIns="0" rtlCol="0" anchor="ctr"/>
          <a:lstStyle/>
          <a:p>
            <a:pPr marL="0" indent="0" algn="ctr">
              <a:buNone/>
            </a:pPr>
            <a:r>
              <a:rPr lang="en-US" sz="1280" b="1" dirty="0">
                <a:solidFill>
                  <a:srgbClr val="2E6BB0"/>
                </a:solidFill>
                <a:latin typeface="Georgia" panose="02040502050405020303" pitchFamily="18" charset="0"/>
              </a:rPr>
              <a:t>Stage 4</a:t>
            </a:r>
            <a:endParaRPr lang="en-US" sz="1280" dirty="0">
              <a:latin typeface="Georgia" panose="02040502050405020303" pitchFamily="18" charset="0"/>
            </a:endParaRPr>
          </a:p>
        </p:txBody>
      </p:sp>
      <p:sp>
        <p:nvSpPr>
          <p:cNvPr id="14" name="Shape 12"/>
          <p:cNvSpPr/>
          <p:nvPr/>
        </p:nvSpPr>
        <p:spPr>
          <a:xfrm>
            <a:off x="1920240" y="2770632"/>
            <a:ext cx="4800600" cy="512064"/>
          </a:xfrm>
          <a:prstGeom prst="roundRect">
            <a:avLst>
              <a:gd name="adj" fmla="val 10714"/>
            </a:avLst>
          </a:prstGeom>
          <a:solidFill>
            <a:srgbClr val="FFFFFF"/>
          </a:solidFill>
          <a:ln w="12700">
            <a:solidFill>
              <a:srgbClr val="E5E7EB"/>
            </a:solidFill>
            <a:prstDash val="solid"/>
          </a:ln>
        </p:spPr>
      </p:sp>
      <p:sp>
        <p:nvSpPr>
          <p:cNvPr id="15" name="Text 13"/>
          <p:cNvSpPr/>
          <p:nvPr/>
        </p:nvSpPr>
        <p:spPr>
          <a:xfrm>
            <a:off x="2121408" y="2907792"/>
            <a:ext cx="4599432" cy="164592"/>
          </a:xfrm>
          <a:prstGeom prst="rect">
            <a:avLst/>
          </a:prstGeom>
          <a:noFill/>
          <a:ln/>
        </p:spPr>
        <p:txBody>
          <a:bodyPr wrap="square" lIns="0" tIns="0" rIns="0" bIns="0" rtlCol="0" anchor="ctr">
            <a:noAutofit/>
          </a:bodyPr>
          <a:lstStyle/>
          <a:p>
            <a:pPr marL="0" indent="0">
              <a:buNone/>
            </a:pPr>
            <a:r>
              <a:rPr lang="en-US" sz="1300" dirty="0">
                <a:solidFill>
                  <a:srgbClr val="374151"/>
                </a:solidFill>
                <a:latin typeface="Georgia" panose="02040502050405020303" pitchFamily="18" charset="0"/>
              </a:rPr>
              <a:t>Add robustness: augmentations, calibration, unknown-generator validation</a:t>
            </a:r>
            <a:endParaRPr lang="en-US" sz="1300" dirty="0">
              <a:latin typeface="Georgia" panose="02040502050405020303" pitchFamily="18" charset="0"/>
            </a:endParaRPr>
          </a:p>
        </p:txBody>
      </p:sp>
      <p:sp>
        <p:nvSpPr>
          <p:cNvPr id="16" name="Shape 14"/>
          <p:cNvSpPr/>
          <p:nvPr/>
        </p:nvSpPr>
        <p:spPr>
          <a:xfrm>
            <a:off x="749808" y="3493008"/>
            <a:ext cx="1005840" cy="512064"/>
          </a:xfrm>
          <a:prstGeom prst="roundRect">
            <a:avLst>
              <a:gd name="adj" fmla="val 10714"/>
            </a:avLst>
          </a:prstGeom>
          <a:solidFill>
            <a:srgbClr val="EDF6FF"/>
          </a:solidFill>
          <a:ln w="12700">
            <a:solidFill>
              <a:srgbClr val="EDF6FF"/>
            </a:solidFill>
            <a:prstDash val="solid"/>
          </a:ln>
        </p:spPr>
      </p:sp>
      <p:sp>
        <p:nvSpPr>
          <p:cNvPr id="17" name="Text 15"/>
          <p:cNvSpPr/>
          <p:nvPr/>
        </p:nvSpPr>
        <p:spPr>
          <a:xfrm>
            <a:off x="868680" y="3639312"/>
            <a:ext cx="768096" cy="146304"/>
          </a:xfrm>
          <a:prstGeom prst="rect">
            <a:avLst/>
          </a:prstGeom>
          <a:noFill/>
          <a:ln/>
        </p:spPr>
        <p:txBody>
          <a:bodyPr wrap="square" lIns="0" tIns="0" rIns="0" bIns="0" rtlCol="0" anchor="ctr"/>
          <a:lstStyle/>
          <a:p>
            <a:pPr marL="0" indent="0" algn="ctr">
              <a:buNone/>
            </a:pPr>
            <a:r>
              <a:rPr lang="en-US" sz="1280" b="1" dirty="0">
                <a:solidFill>
                  <a:srgbClr val="2E6BB0"/>
                </a:solidFill>
                <a:latin typeface="Georgia" panose="02040502050405020303" pitchFamily="18" charset="0"/>
              </a:rPr>
              <a:t>Stage 5</a:t>
            </a:r>
            <a:endParaRPr lang="en-US" sz="1280" dirty="0">
              <a:latin typeface="Georgia" panose="02040502050405020303" pitchFamily="18" charset="0"/>
            </a:endParaRPr>
          </a:p>
        </p:txBody>
      </p:sp>
      <p:sp>
        <p:nvSpPr>
          <p:cNvPr id="18" name="Shape 16"/>
          <p:cNvSpPr/>
          <p:nvPr/>
        </p:nvSpPr>
        <p:spPr>
          <a:xfrm>
            <a:off x="1920240" y="3493008"/>
            <a:ext cx="4800600" cy="512064"/>
          </a:xfrm>
          <a:prstGeom prst="roundRect">
            <a:avLst>
              <a:gd name="adj" fmla="val 10714"/>
            </a:avLst>
          </a:prstGeom>
          <a:solidFill>
            <a:srgbClr val="FFFFFF"/>
          </a:solidFill>
          <a:ln w="12700">
            <a:solidFill>
              <a:srgbClr val="E5E7EB"/>
            </a:solidFill>
            <a:prstDash val="solid"/>
          </a:ln>
        </p:spPr>
      </p:sp>
      <p:sp>
        <p:nvSpPr>
          <p:cNvPr id="19" name="Text 17"/>
          <p:cNvSpPr/>
          <p:nvPr/>
        </p:nvSpPr>
        <p:spPr>
          <a:xfrm>
            <a:off x="2121408" y="3630168"/>
            <a:ext cx="4389120" cy="164592"/>
          </a:xfrm>
          <a:prstGeom prst="rect">
            <a:avLst/>
          </a:prstGeom>
          <a:noFill/>
          <a:ln/>
        </p:spPr>
        <p:txBody>
          <a:bodyPr wrap="square" lIns="0" tIns="0" rIns="0" bIns="0" rtlCol="0" anchor="ctr">
            <a:noAutofit/>
          </a:bodyPr>
          <a:lstStyle/>
          <a:p>
            <a:pPr marL="0" indent="0">
              <a:buNone/>
            </a:pPr>
            <a:r>
              <a:rPr lang="en-US" sz="1300" dirty="0">
                <a:solidFill>
                  <a:srgbClr val="374151"/>
                </a:solidFill>
                <a:latin typeface="Georgia" panose="02040502050405020303" pitchFamily="18" charset="0"/>
              </a:rPr>
              <a:t>Build small ensemble and failure-analysis dashboard</a:t>
            </a:r>
            <a:endParaRPr lang="en-US" sz="1300" dirty="0">
              <a:latin typeface="Georgia" panose="02040502050405020303" pitchFamily="18" charset="0"/>
            </a:endParaRPr>
          </a:p>
        </p:txBody>
      </p:sp>
      <p:sp>
        <p:nvSpPr>
          <p:cNvPr id="20" name="Shape 18"/>
          <p:cNvSpPr/>
          <p:nvPr/>
        </p:nvSpPr>
        <p:spPr>
          <a:xfrm>
            <a:off x="749808" y="4215384"/>
            <a:ext cx="1005840" cy="512064"/>
          </a:xfrm>
          <a:prstGeom prst="roundRect">
            <a:avLst>
              <a:gd name="adj" fmla="val 10714"/>
            </a:avLst>
          </a:prstGeom>
          <a:solidFill>
            <a:srgbClr val="EDF6FF"/>
          </a:solidFill>
          <a:ln w="12700">
            <a:solidFill>
              <a:srgbClr val="EDF6FF"/>
            </a:solidFill>
            <a:prstDash val="solid"/>
          </a:ln>
        </p:spPr>
      </p:sp>
      <p:sp>
        <p:nvSpPr>
          <p:cNvPr id="21" name="Text 19"/>
          <p:cNvSpPr/>
          <p:nvPr/>
        </p:nvSpPr>
        <p:spPr>
          <a:xfrm>
            <a:off x="868680" y="4361688"/>
            <a:ext cx="768096" cy="146304"/>
          </a:xfrm>
          <a:prstGeom prst="rect">
            <a:avLst/>
          </a:prstGeom>
          <a:noFill/>
          <a:ln/>
        </p:spPr>
        <p:txBody>
          <a:bodyPr wrap="square" lIns="0" tIns="0" rIns="0" bIns="0" rtlCol="0" anchor="ctr"/>
          <a:lstStyle/>
          <a:p>
            <a:pPr marL="0" indent="0" algn="ctr">
              <a:buNone/>
            </a:pPr>
            <a:r>
              <a:rPr lang="en-US" sz="1280" b="1" dirty="0">
                <a:solidFill>
                  <a:srgbClr val="2E6BB0"/>
                </a:solidFill>
                <a:latin typeface="Georgia" panose="02040502050405020303" pitchFamily="18" charset="0"/>
              </a:rPr>
              <a:t>Stage 6+</a:t>
            </a:r>
            <a:endParaRPr lang="en-US" sz="1280" dirty="0">
              <a:latin typeface="Georgia" panose="02040502050405020303" pitchFamily="18" charset="0"/>
            </a:endParaRPr>
          </a:p>
        </p:txBody>
      </p:sp>
      <p:sp>
        <p:nvSpPr>
          <p:cNvPr id="22" name="Shape 20"/>
          <p:cNvSpPr/>
          <p:nvPr/>
        </p:nvSpPr>
        <p:spPr>
          <a:xfrm>
            <a:off x="1920240" y="4215384"/>
            <a:ext cx="4800600" cy="512064"/>
          </a:xfrm>
          <a:prstGeom prst="roundRect">
            <a:avLst>
              <a:gd name="adj" fmla="val 10714"/>
            </a:avLst>
          </a:prstGeom>
          <a:solidFill>
            <a:srgbClr val="FFFFFF"/>
          </a:solidFill>
          <a:ln w="12700">
            <a:solidFill>
              <a:srgbClr val="E5E7EB"/>
            </a:solidFill>
            <a:prstDash val="solid"/>
          </a:ln>
        </p:spPr>
      </p:sp>
      <p:sp>
        <p:nvSpPr>
          <p:cNvPr id="23" name="Text 21"/>
          <p:cNvSpPr/>
          <p:nvPr/>
        </p:nvSpPr>
        <p:spPr>
          <a:xfrm>
            <a:off x="2121408" y="4352544"/>
            <a:ext cx="4389120" cy="164592"/>
          </a:xfrm>
          <a:prstGeom prst="rect">
            <a:avLst/>
          </a:prstGeom>
          <a:noFill/>
          <a:ln/>
        </p:spPr>
        <p:txBody>
          <a:bodyPr wrap="square" lIns="0" tIns="0" rIns="0" bIns="0" rtlCol="0" anchor="ctr">
            <a:noAutofit/>
          </a:bodyPr>
          <a:lstStyle/>
          <a:p>
            <a:pPr marL="0" indent="0">
              <a:buNone/>
            </a:pPr>
            <a:r>
              <a:rPr lang="en-US" sz="1300" dirty="0">
                <a:solidFill>
                  <a:srgbClr val="374151"/>
                </a:solidFill>
                <a:latin typeface="Georgia" panose="02040502050405020303" pitchFamily="18" charset="0"/>
              </a:rPr>
              <a:t>Optional: add generation branch for hard negatives and dual submission</a:t>
            </a:r>
            <a:endParaRPr lang="en-US" sz="1300" dirty="0">
              <a:latin typeface="Georgia" panose="02040502050405020303" pitchFamily="18" charset="0"/>
            </a:endParaRPr>
          </a:p>
        </p:txBody>
      </p:sp>
      <p:sp>
        <p:nvSpPr>
          <p:cNvPr id="24" name="Shape 22"/>
          <p:cNvSpPr/>
          <p:nvPr/>
        </p:nvSpPr>
        <p:spPr>
          <a:xfrm>
            <a:off x="7315200" y="1417320"/>
            <a:ext cx="4297680" cy="4389120"/>
          </a:xfrm>
          <a:prstGeom prst="roundRect">
            <a:avLst>
              <a:gd name="adj" fmla="val 1702"/>
            </a:avLst>
          </a:prstGeom>
          <a:solidFill>
            <a:srgbClr val="10233D"/>
          </a:solidFill>
          <a:ln w="12700">
            <a:solidFill>
              <a:srgbClr val="10233D"/>
            </a:solidFill>
            <a:prstDash val="solid"/>
          </a:ln>
        </p:spPr>
      </p:sp>
      <p:sp>
        <p:nvSpPr>
          <p:cNvPr id="25" name="Text 23"/>
          <p:cNvSpPr/>
          <p:nvPr/>
        </p:nvSpPr>
        <p:spPr>
          <a:xfrm>
            <a:off x="7589520" y="1719072"/>
            <a:ext cx="2520638" cy="329184"/>
          </a:xfrm>
          <a:prstGeom prst="rect">
            <a:avLst/>
          </a:prstGeom>
          <a:noFill/>
          <a:ln/>
        </p:spPr>
        <p:txBody>
          <a:bodyPr wrap="square" lIns="0" tIns="0" rIns="0" bIns="0" rtlCol="0" anchor="ctr"/>
          <a:lstStyle/>
          <a:p>
            <a:pPr marL="0" indent="0">
              <a:buNone/>
            </a:pPr>
            <a:r>
              <a:rPr lang="en-US" b="1" dirty="0">
                <a:solidFill>
                  <a:srgbClr val="FFFFFF"/>
                </a:solidFill>
                <a:latin typeface="Georgia" panose="02040502050405020303" pitchFamily="18" charset="0"/>
              </a:rPr>
              <a:t>Consideration Points</a:t>
            </a:r>
            <a:endParaRPr lang="en-US" sz="1800" dirty="0">
              <a:latin typeface="Georgia" panose="02040502050405020303" pitchFamily="18" charset="0"/>
            </a:endParaRPr>
          </a:p>
        </p:txBody>
      </p:sp>
      <p:sp>
        <p:nvSpPr>
          <p:cNvPr id="26" name="Text 24"/>
          <p:cNvSpPr/>
          <p:nvPr/>
        </p:nvSpPr>
        <p:spPr>
          <a:xfrm>
            <a:off x="7571232" y="2148839"/>
            <a:ext cx="3611880" cy="2660905"/>
          </a:xfrm>
          <a:prstGeom prst="rect">
            <a:avLst/>
          </a:prstGeom>
          <a:noFill/>
          <a:ln/>
        </p:spPr>
        <p:txBody>
          <a:bodyPr wrap="square" lIns="254" tIns="254" rIns="254" bIns="254" rtlCol="0" anchor="ctr">
            <a:normAutofit/>
          </a:bodyPr>
          <a:lstStyle/>
          <a:p>
            <a:pPr marL="177800" indent="-177800" algn="just">
              <a:buSzPct val="100000"/>
              <a:buChar char="•"/>
            </a:pPr>
            <a:r>
              <a:rPr lang="en-US" sz="1400" dirty="0">
                <a:solidFill>
                  <a:srgbClr val="FFFFFF"/>
                </a:solidFill>
                <a:latin typeface="Georgia" panose="02040502050405020303" pitchFamily="18" charset="0"/>
              </a:rPr>
              <a:t>This benchmark is about generalization under realistic attack diversity.</a:t>
            </a:r>
          </a:p>
          <a:p>
            <a:pPr marL="177800" indent="-177800" algn="just">
              <a:buSzPct val="100000"/>
              <a:buChar char="•"/>
            </a:pPr>
            <a:endParaRPr lang="en-US" sz="1400" dirty="0">
              <a:latin typeface="Georgia" panose="02040502050405020303" pitchFamily="18" charset="0"/>
            </a:endParaRPr>
          </a:p>
          <a:p>
            <a:pPr marL="177800" indent="-177800" algn="just">
              <a:buSzPct val="100000"/>
              <a:buChar char="•"/>
            </a:pPr>
            <a:r>
              <a:rPr lang="en-US" sz="1400" dirty="0">
                <a:solidFill>
                  <a:srgbClr val="FFFFFF"/>
                </a:solidFill>
                <a:latin typeface="Georgia" panose="02040502050405020303" pitchFamily="18" charset="0"/>
              </a:rPr>
              <a:t>A competitive team should prioritize a robust detector before chasing a complex generator.</a:t>
            </a:r>
          </a:p>
          <a:p>
            <a:pPr marL="177800" indent="-177800" algn="just">
              <a:buSzPct val="100000"/>
              <a:buChar char="•"/>
            </a:pPr>
            <a:endParaRPr lang="en-US" sz="1400" dirty="0">
              <a:latin typeface="Georgia" panose="02040502050405020303" pitchFamily="18" charset="0"/>
            </a:endParaRPr>
          </a:p>
          <a:p>
            <a:pPr marL="177800" indent="-177800" algn="just">
              <a:buSzPct val="100000"/>
              <a:buChar char="•"/>
            </a:pPr>
            <a:r>
              <a:rPr lang="en-US" sz="1400" dirty="0">
                <a:solidFill>
                  <a:srgbClr val="FFFFFF"/>
                </a:solidFill>
                <a:latin typeface="Georgia" panose="02040502050405020303" pitchFamily="18" charset="0"/>
              </a:rPr>
              <a:t>The best practical edge comes from disciplined validation, hard negatives, and calibrated ensembling.</a:t>
            </a:r>
            <a:endParaRPr lang="en-US" sz="1400" dirty="0">
              <a:latin typeface="Georgia" panose="02040502050405020303" pitchFamily="18" charset="0"/>
            </a:endParaRPr>
          </a:p>
        </p:txBody>
      </p:sp>
      <p:sp>
        <p:nvSpPr>
          <p:cNvPr id="29" name="Text 27"/>
          <p:cNvSpPr/>
          <p:nvPr/>
        </p:nvSpPr>
        <p:spPr>
          <a:xfrm>
            <a:off x="11612880" y="6574536"/>
            <a:ext cx="274320" cy="146304"/>
          </a:xfrm>
          <a:prstGeom prst="rect">
            <a:avLst/>
          </a:prstGeom>
          <a:noFill/>
          <a:ln/>
        </p:spPr>
        <p:txBody>
          <a:bodyPr wrap="square" lIns="0" tIns="0" rIns="0" bIns="0" rtlCol="0" anchor="ctr"/>
          <a:lstStyle/>
          <a:p>
            <a:pPr marL="0" indent="0" algn="r">
              <a:buNone/>
            </a:pPr>
            <a:r>
              <a:rPr lang="en-US" sz="900" dirty="0">
                <a:solidFill>
                  <a:srgbClr val="6B7280"/>
                </a:solidFill>
              </a:rPr>
              <a:t>10</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TotalTime>
  <Words>1392</Words>
  <Application>Microsoft Office PowerPoint</Application>
  <PresentationFormat>Widescreen</PresentationFormat>
  <Paragraphs>191</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ImageCLEF 2026 Deepfake Detection and Generation</dc:title>
  <dc:subject>ImageCLEF 2026 Deepfake Detection and Generation</dc:subject>
  <dc:creator>Emmanuel Edward Ngasa</dc:creator>
  <cp:lastModifiedBy>Emmanuel Edward Ngasa</cp:lastModifiedBy>
  <cp:revision>19</cp:revision>
  <dcterms:created xsi:type="dcterms:W3CDTF">2026-03-18T02:53:33Z</dcterms:created>
  <dcterms:modified xsi:type="dcterms:W3CDTF">2026-03-19T02:08:17Z</dcterms:modified>
</cp:coreProperties>
</file>